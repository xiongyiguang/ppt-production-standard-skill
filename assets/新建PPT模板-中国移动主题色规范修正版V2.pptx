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61" r:id="rId3"/>
    <p:sldId id="264" r:id="rId4"/>
    <p:sldId id="266" r:id="rId5"/>
    <p:sldId id="267" r:id="rId6"/>
    <p:sldId id="270" r:id="rId7"/>
    <p:sldId id="271" r:id="rId8"/>
    <p:sldId id="277" r:id="rId9"/>
  </p:sldIdLst>
  <p:sldSz cx="12192000" cy="6858000"/>
  <p:notesSz cx="7104063" cy="10234613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规划方案" id="{83770F4B-6917-48A5-B176-EBB30CF1D442}">
          <p14:sldIdLst>
            <p14:sldId id="257"/>
            <p14:sldId id="261"/>
            <p14:sldId id="264"/>
            <p14:sldId id="266"/>
            <p14:sldId id="267"/>
            <p14:sldId id="270"/>
            <p14:sldId id="271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2" pos="7423" userDrawn="1">
          <p15:clr>
            <a:srgbClr val="A4A3A4"/>
          </p15:clr>
        </p15:guide>
        <p15:guide id="5" orient="horz" pos="5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557" name="未知用户348" initials="未" lastIdx="10" clrIdx="0"/>
  <p:cmAuthor id="1" name="Wangzhi gang" initials="Wg" lastIdx="1" clrIdx="0"/>
  <p:cmAuthor id="558" name="未知用户148" initials="未" lastIdx="1" clrIdx="0"/>
  <p:cmAuthor id="2" name="作者" initials="A" lastIdx="0" clrIdx="1"/>
  <p:cmAuthor id="559" name="未知用户195" initials="未" lastIdx="1" clrIdx="0"/>
  <p:cmAuthor id="3" name="lenovo" initials="l" lastIdx="6" clrIdx="2"/>
  <p:cmAuthor id="560" name="未知用户207" initials="未" lastIdx="3" clrIdx="1"/>
  <p:cmAuthor id="353158055" name="韩雨" initials="韩" lastIdx="0" clrIdx="0"/>
  <p:cmAuthor id="4" name="Administrator" initials="A" lastIdx="4" clrIdx="3"/>
  <p:cmAuthor id="561" name="未知用户208" initials="未" lastIdx="1" clrIdx="0"/>
  <p:cmAuthor id="5" name="宋洁然" initials="宋" lastIdx="2" clrIdx="1"/>
  <p:cmAuthor id="562" name="未知用户198" initials="未" lastIdx="1" clrIdx="0"/>
  <p:cmAuthor id="6" name="ming qiu" initials="m" lastIdx="17" clrIdx="1"/>
  <p:cmAuthor id="563" name="未知用户209" initials="未" lastIdx="1" clrIdx="0"/>
  <p:cmAuthor id="7" name="1206988966@qq.com" initials="1" lastIdx="1" clrIdx="2"/>
  <p:cmAuthor id="564" name="未知用户289" initials="未" lastIdx="1" clrIdx="0"/>
  <p:cmAuthor id="8" name="姜伟光" initials="姜" lastIdx="1" clrIdx="0"/>
  <p:cmAuthor id="565" name="未知用户206" initials="未" lastIdx="6" clrIdx="0"/>
  <p:cmAuthor id="9" name="ylmfeng" initials="y" lastIdx="1" clrIdx="8"/>
  <p:cmAuthor id="566" name="未知的使用者207" initials="未" lastIdx="1" clrIdx="0"/>
  <p:cmAuthor id="10" name="THINK" initials="T" lastIdx="2" clrIdx="9"/>
  <p:cmAuthor id="567" name="未知的使用者208" initials="未" lastIdx="1" clrIdx="0"/>
  <p:cmAuthor id="11" name="朱磊" initials="朱" lastIdx="2" clrIdx="10"/>
  <p:cmAuthor id="568" name="未知的使用者188" initials="未" lastIdx="1" clrIdx="0"/>
  <p:cmAuthor id="12" name="Windows 用户" initials="W用" lastIdx="8" clrIdx="12"/>
  <p:cmAuthor id="569" name="未知的使用者189" initials="未" lastIdx="2" clrIdx="0"/>
  <p:cmAuthor id="13" name="殷格非" initials="" lastIdx="2" clrIdx="0"/>
  <p:cmAuthor id="570" name="未知的使用者190" initials="未" lastIdx="1" clrIdx="1"/>
  <p:cmAuthor id="14" name="熊文剑" initials="熊" lastIdx="1" clrIdx="13"/>
  <p:cmAuthor id="571" name="未知的使用者191" initials="未" lastIdx="1" clrIdx="0"/>
  <p:cmAuthor id="15" name="10247451" initials="1" lastIdx="39" clrIdx="14"/>
  <p:cmAuthor id="191251535" name="沈霄雷" initials="沈" lastIdx="833089" clrIdx="0"/>
  <p:cmAuthor id="572" name="未知的使用者192" initials="未" lastIdx="1" clrIdx="0"/>
  <p:cmAuthor id="16" name="CMIC2021" initials="C" lastIdx="2" clrIdx="15"/>
  <p:cmAuthor id="191251536" name="张钰" initials="张" lastIdx="1" clrIdx="25"/>
  <p:cmAuthor id="573" name="未知的使用者193" initials="未" lastIdx="2" clrIdx="0"/>
  <p:cmAuthor id="17" name="00035181" initials="0" lastIdx="1" clrIdx="16"/>
  <p:cmAuthor id="191251537" name="高 凡" initials="高" lastIdx="1" clrIdx="36"/>
  <p:cmAuthor id="574" name="未知的使用者209" initials="未" lastIdx="8" clrIdx="0"/>
  <p:cmAuthor id="18" name="张燕" initials="MSOffice" lastIdx="1" clrIdx="17"/>
  <p:cmAuthor id="575" name="未知用户146" initials="未" lastIdx="5" clrIdx="1"/>
  <p:cmAuthor id="19" name="Saku Uchikawa" initials="S" lastIdx="11" clrIdx="0"/>
  <p:cmAuthor id="191251539" name="席琛" initials="" lastIdx="0" clrIdx="58"/>
  <p:cmAuthor id="576" name="未知用户94" initials="未" lastIdx="0" clrIdx="1"/>
  <p:cmAuthor id="20" name="00065088" initials="0" lastIdx="2" clrIdx="19"/>
  <p:cmAuthor id="577" name="未知用户118" initials="未" lastIdx="1" clrIdx="0"/>
  <p:cmAuthor id="21" name="10066351" initials="1" lastIdx="2" clrIdx="0"/>
  <p:cmAuthor id="578" name="未知用户147" initials="未" lastIdx="0" clrIdx="1"/>
  <p:cmAuthor id="22" name="蔡建楠" initials="caijianna" lastIdx="15" clrIdx="17"/>
  <p:cmAuthor id="579" name="未知的使用者96" initials="未" lastIdx="1" clrIdx="0"/>
  <p:cmAuthor id="23" name="Author" initials="A" lastIdx="0" clrIdx="22"/>
  <p:cmAuthor id="580" name="未知用户255" initials="未" lastIdx="1" clrIdx="1"/>
  <p:cmAuthor id="24" name="李蕾00009994" initials="李" lastIdx="6" clrIdx="17"/>
  <p:cmAuthor id="581" name="未知的使用者153" initials="未" lastIdx="1" clrIdx="0"/>
  <p:cmAuthor id="25" name="10118178" initials="1" lastIdx="1" clrIdx="24"/>
  <p:cmAuthor id="582" name="未知的使用者154" initials="未" lastIdx="1" clrIdx="0"/>
  <p:cmAuthor id="26" name="10270945" initials="1" lastIdx="2" clrIdx="25"/>
  <p:cmAuthor id="583" name="未知的使用者156" initials="未" lastIdx="1" clrIdx="0"/>
  <p:cmAuthor id="27" name="王丽（IT）" initials="王" lastIdx="2" clrIdx="26"/>
  <p:cmAuthor id="584" name="未知的使用者157" initials="未" lastIdx="1" clrIdx="0"/>
  <p:cmAuthor id="28" name="Hou Yingfeng" initials="H" lastIdx="10" clrIdx="23"/>
  <p:cmAuthor id="585" name="未知用户246" initials="未" lastIdx="1" clrIdx="0"/>
  <p:cmAuthor id="29" name="张馨玲" initials="张" lastIdx="1" clrIdx="28"/>
  <p:cmAuthor id="586" name="未知的使用者129" initials="未" lastIdx="1" clrIdx="0"/>
  <p:cmAuthor id="30" name="Q" initials="Q" lastIdx="1" clrIdx="29"/>
  <p:cmAuthor id="587" name="未知用户257" initials="未" lastIdx="1" clrIdx="0"/>
  <p:cmAuthor id="31" name="admin" initials="a" lastIdx="6" clrIdx="30"/>
  <p:cmAuthor id="588" name="未知的使用者164" initials="未" lastIdx="8" clrIdx="0"/>
  <p:cmAuthor id="32" name="李楠10047711" initials="李楠10047711" lastIdx="2" clrIdx="31"/>
  <p:cmAuthor id="589" name="未知的使用者172" initials="未" lastIdx="1" clrIdx="0"/>
  <p:cmAuthor id="33" name="10045953" initials="1" lastIdx="4" clrIdx="32"/>
  <p:cmAuthor id="590" name="未知的使用者174" initials="未" lastIdx="1" clrIdx="0"/>
  <p:cmAuthor id="34" name="未知用户6" initials="未知用户6" lastIdx="1" clrIdx="9"/>
  <p:cmAuthor id="591" name="未知用户261" initials="未" lastIdx="1" clrIdx="0"/>
  <p:cmAuthor id="35" name="XUWEI" initials="X" lastIdx="1" clrIdx="10"/>
  <p:cmAuthor id="592" name="未知的使用者247" initials="未" lastIdx="6" clrIdx="0"/>
  <p:cmAuthor id="36" name="rev2" initials="c" lastIdx="1" clrIdx="36"/>
  <p:cmAuthor id="593" name="未知的使用者249" initials="未" lastIdx="43" clrIdx="1"/>
  <p:cmAuthor id="37" name="安 宝来" initials="安" lastIdx="2" clrIdx="19"/>
  <p:cmAuthor id="594" name="未知的使用者250" initials="未" lastIdx="1" clrIdx="0"/>
  <p:cmAuthor id="38" name="feng xingbo" initials="fx" lastIdx="1" clrIdx="24"/>
  <p:cmAuthor id="595" name="未知的使用者251" initials="未" lastIdx="1" clrIdx="0"/>
  <p:cmAuthor id="39" name="fei Ren" initials="fR" lastIdx="1" clrIdx="25"/>
  <p:cmAuthor id="596" name="未知的使用者246" initials="未" lastIdx="1" clrIdx="1"/>
  <p:cmAuthor id="40" name="未知用户34" initials="未" lastIdx="1" clrIdx="37"/>
  <p:cmAuthor id="597" name="未知的使用者252" initials="未" lastIdx="1" clrIdx="0"/>
  <p:cmAuthor id="41" name="未知用户35" initials="未" lastIdx="1" clrIdx="38"/>
  <p:cmAuthor id="598" name="未知的使用者253" initials="未" lastIdx="1" clrIdx="0"/>
  <p:cmAuthor id="42" name="hm" initials="h" lastIdx="10" clrIdx="41"/>
  <p:cmAuthor id="599" name="未知的使用者254" initials="未" lastIdx="1" clrIdx="0"/>
  <p:cmAuthor id="43" name="ZJK" initials="Z" lastIdx="5" clrIdx="42"/>
  <p:cmAuthor id="600" name="未知的使用者255" initials="未" lastIdx="1" clrIdx="0"/>
  <p:cmAuthor id="44" name="成玉玉" initials="成" lastIdx="1" clrIdx="43"/>
  <p:cmAuthor id="601" name="未知用户268" initials="未" lastIdx="1" clrIdx="0"/>
  <p:cmAuthor id="45" name="bay" initials="b" lastIdx="1" clrIdx="44"/>
  <p:cmAuthor id="602" name="未知用户269" initials="未" lastIdx="2" clrIdx="0"/>
  <p:cmAuthor id="46" name="未知的使用者2" initials="未" lastIdx="1" clrIdx="0"/>
  <p:cmAuthor id="603" name="未知的使用者270" initials="未" lastIdx="1" clrIdx="0"/>
  <p:cmAuthor id="47" name="clj" initials="c" lastIdx="1" clrIdx="46"/>
  <p:cmAuthor id="604" name="未知用户250" initials="未" lastIdx="0" clrIdx="0"/>
  <p:cmAuthor id="48" name="尹瑶瑶" initials="YYY" lastIdx="1" clrIdx="47"/>
  <p:cmAuthor id="605" name="未知用户272" initials="未" lastIdx="10" clrIdx="0"/>
  <p:cmAuthor id="49" name="李轶" initials="李" lastIdx="1" clrIdx="48"/>
  <p:cmAuthor id="606" name="未知的使用者256" initials="未" lastIdx="1" clrIdx="0"/>
  <p:cmAuthor id="50" name="未知的使用者21" initials="未" lastIdx="1" clrIdx="0"/>
  <p:cmAuthor id="607" name="未知的使用者197" initials="未" lastIdx="8" clrIdx="0"/>
  <p:cmAuthor id="51" name="吕志勇" initials="吕" lastIdx="8" clrIdx="0"/>
  <p:cmAuthor id="608" name="未知的使用者200" initials="未" lastIdx="1" clrIdx="0"/>
  <p:cmAuthor id="52" name="lantj" initials="l" lastIdx="1" clrIdx="51"/>
  <p:cmAuthor id="609" name="未知的使用者257" initials="未" lastIdx="1" clrIdx="0"/>
  <p:cmAuthor id="53" name="zhangjj" initials="z" lastIdx="1" clrIdx="52"/>
  <p:cmAuthor id="610" name="未知的使用者171" initials="未" lastIdx="3" clrIdx="1"/>
  <p:cmAuthor id="54" name="Shirley" initials="S" lastIdx="2" clrIdx="53"/>
  <p:cmAuthor id="611" name="未知的使用者240" initials="未" lastIdx="1" clrIdx="0"/>
  <p:cmAuthor id="55" name="未知的使用者70" initials="" lastIdx="1" clrIdx="0"/>
  <p:cmAuthor id="612" name="未知的使用者241" initials="未" lastIdx="1" clrIdx="0"/>
  <p:cmAuthor id="56" name="未知的使用者85" initials="" lastIdx="1" clrIdx="0"/>
  <p:cmAuthor id="613" name="未知的使用者242" initials="未" lastIdx="2" clrIdx="0"/>
  <p:cmAuthor id="57" name="wumeng" initials="w" lastIdx="1" clrIdx="56"/>
  <p:cmAuthor id="614" name="未知的使用者243" initials="未" lastIdx="1" clrIdx="0"/>
  <p:cmAuthor id="58" name="未知的使用者87" initials="" lastIdx="1" clrIdx="0"/>
  <p:cmAuthor id="615" name="未知的使用者258" initials="未" lastIdx="8" clrIdx="0"/>
  <p:cmAuthor id="59" name="庞付娟" initials="庞" lastIdx="29" clrIdx="0"/>
  <p:cmAuthor id="616" name="未知的使用者259" initials="未" lastIdx="1" clrIdx="0"/>
  <p:cmAuthor id="691587970" name="小延魔法师" initials="小" lastIdx="1126286" clrIdx="0"/>
  <p:cmAuthor id="617" name="未知的使用者260" initials="未" lastIdx="1" clrIdx="0"/>
  <p:cmAuthor id="60" name="未知的使用者90" initials="" lastIdx="8" clrIdx="0"/>
  <p:cmAuthor id="691587971" name="qixing Liao" initials="qL" lastIdx="1" clrIdx="49"/>
  <p:cmAuthor id="618" name="未知的使用者261" initials="未" lastIdx="11" clrIdx="0"/>
  <p:cmAuthor id="61" name="張秀娟" initials="張" lastIdx="1" clrIdx="2"/>
  <p:cmAuthor id="691587972" name="li hui" initials="lh" lastIdx="1" clrIdx="50"/>
  <p:cmAuthor id="619" name="未知的使用者262" initials="未" lastIdx="7" clrIdx="1"/>
  <p:cmAuthor id="62" name="未知的使用者34" initials="未" lastIdx="1" clrIdx="0"/>
  <p:cmAuthor id="691587973" name="Windows User" initials="WU" lastIdx="5" clrIdx="315"/>
  <p:cmAuthor id="620" name="未知的使用者263" initials="未" lastIdx="1" clrIdx="2"/>
  <p:cmAuthor id="63" name="未知的使用者98" initials="" lastIdx="1" clrIdx="0"/>
  <p:cmAuthor id="691587974" name="秀雪 贾" initials="秀贾" lastIdx="3" clrIdx="330"/>
  <p:cmAuthor id="621" name="未知的使用者264" initials="未" lastIdx="1" clrIdx="0"/>
  <p:cmAuthor id="64" name="CHRISYU" initials="" lastIdx="1" clrIdx="0"/>
  <p:cmAuthor id="65" name="未知的使用者113" initials="" lastIdx="1" clrIdx="2"/>
  <p:cmAuthor id="622" name="未知的使用者265" initials="未" lastIdx="1" clrIdx="0"/>
  <p:cmAuthor id="66" name="liucunri" initials="" lastIdx="1" clrIdx="0"/>
  <p:cmAuthor id="623" name="未知的使用者266" initials="未" lastIdx="1" clrIdx="1"/>
  <p:cmAuthor id="67" name="qihua-DCMS" initials="q" lastIdx="0" clrIdx="0"/>
  <p:cmAuthor id="624" name="未知的使用者267" initials="未" lastIdx="1" clrIdx="0"/>
  <p:cmAuthor id="68" name="Unknown User48" initials="" lastIdx="8" clrIdx="0"/>
  <p:cmAuthor id="625" name="未知的使用者268" initials="未" lastIdx="2" clrIdx="0"/>
  <p:cmAuthor id="69" name="未知用户82" initials="未知用户82" lastIdx="1" clrIdx="0"/>
  <p:cmAuthor id="626" name="未知的使用者269" initials="未" lastIdx="7" clrIdx="1"/>
  <p:cmAuthor id="70" name="未知用户83" initials="未知用户83" lastIdx="1" clrIdx="0"/>
  <p:cmAuthor id="627" name="刘晖" initials="刘" lastIdx="1" clrIdx="0"/>
  <p:cmAuthor id="71" name="未知用户84" initials="未知用户84" lastIdx="5" clrIdx="0"/>
  <p:cmAuthor id="628" name="lillian" initials="l" lastIdx="1" clrIdx="0"/>
  <p:cmAuthor id="72" name="未知用户137" initials="未知用户137" lastIdx="10" clrIdx="0"/>
  <p:cmAuthor id="629" name="未知用户197" initials="未" lastIdx="1" clrIdx="0"/>
  <p:cmAuthor id="73" name="未知用户21" initials="未" lastIdx="1" clrIdx="0"/>
  <p:cmAuthor id="630" name="Microsoft Office User" initials="M" lastIdx="2" clrIdx="86"/>
  <p:cmAuthor id="74" name="未知用户138" initials="未知用户138" lastIdx="0" clrIdx="1"/>
  <p:cmAuthor id="631" name="未知的使用者179" initials="未" lastIdx="1" clrIdx="0"/>
  <p:cmAuthor id="75" name="李永欣" initials="李" lastIdx="1" clrIdx="0"/>
  <p:cmAuthor id="632" name="行 朱" initials="行" lastIdx="1" clrIdx="517"/>
  <p:cmAuthor id="76" name="黄译萱(联通上海市上海市分公司)" initials="MSOffice" lastIdx="3" clrIdx="25"/>
  <p:cmAuthor id="633" name="未知用户183" initials="未" lastIdx="1" clrIdx="49"/>
  <p:cmAuthor id="77" name="邵丹(联通上海市上海市分公司)" initials="邵丹(联通上海市上海市分公司)" lastIdx="1" clrIdx="26"/>
  <p:cmAuthor id="634" name="施普希（菜菜）" initials="施" lastIdx="0" clrIdx="0"/>
  <p:cmAuthor id="78" name="Lina Hang(联通上海市上海市分公司)" initials="LH" lastIdx="2" clrIdx="27"/>
  <p:cmAuthor id="635" name="曹 朝辉" initials="曹" lastIdx="1" clrIdx="14"/>
  <p:cmAuthor id="79" name="未知的使用者16" initials="未" lastIdx="6" clrIdx="0"/>
  <p:cmAuthor id="636" name="laichenxi" initials="l" lastIdx="1" clrIdx="337"/>
  <p:cmAuthor id="80" name="未知的使用者13" initials="未" lastIdx="1" clrIdx="0"/>
  <p:cmAuthor id="637" name="zhoupeng" initials="z" lastIdx="5" clrIdx="339"/>
  <p:cmAuthor id="81" name="未知的使用者14" initials="未" lastIdx="2" clrIdx="0"/>
  <p:cmAuthor id="638" name="未知用户175" initials="未" lastIdx="1" clrIdx="1"/>
  <p:cmAuthor id="82" name="廖麗華" initials="廖" lastIdx="1" clrIdx="0"/>
  <p:cmAuthor id="639" name="raymond luan" initials="r" lastIdx="0" clrIdx="0"/>
  <p:cmAuthor id="83" name="未知的使用者12" initials="未" lastIdx="1" clrIdx="0"/>
  <p:cmAuthor id="640" name="未知用户121" initials="未" lastIdx="1" clrIdx="0"/>
  <p:cmAuthor id="84" name="未知用户129" initials="未知用户129" lastIdx="1" clrIdx="0"/>
  <p:cmAuthor id="641" name="安安_zm6nYnYZ" initials="安" lastIdx="0" clrIdx="0"/>
  <p:cmAuthor id="85" name="唐可欣" initials="唐" lastIdx="1" clrIdx="0"/>
  <p:cmAuthor id="642" name="nature_emInFJF7" initials="n" lastIdx="0" clrIdx="0"/>
  <p:cmAuthor id="86" name="王鹏凯" initials="" lastIdx="1" clrIdx="0"/>
  <p:cmAuthor id="643" name="杨思思_VNjyvY7j" initials="杨" lastIdx="0" clrIdx="0"/>
  <p:cmAuthor id="87" name="未知的使用者35" initials="未" lastIdx="1" clrIdx="0"/>
  <p:cmAuthor id="644" name="I_u6feq6Zr" initials="I" lastIdx="0" clrIdx="0"/>
  <p:cmAuthor id="88" name="未知的使用者33" initials="未" lastIdx="1" clrIdx="0"/>
  <p:cmAuthor id="645" name="方少_UbQfrimU" initials="方" lastIdx="0" clrIdx="0"/>
  <p:cmAuthor id="89" name="Admin" initials="A" lastIdx="1" clrIdx="2"/>
  <p:cmAuthor id="646" name="叶盛_Q3A3IfEf" initials="叶" lastIdx="0" clrIdx="0"/>
  <p:cmAuthor id="90" name="未知的使用者93" initials="" lastIdx="1" clrIdx="1"/>
  <p:cmAuthor id="647" name="Harley._bEJrUJ7r" initials="H" lastIdx="0" clrIdx="0"/>
  <p:cmAuthor id="91" name="范作霖" initials="范" lastIdx="1" clrIdx="22"/>
  <p:cmAuthor id="648" name="罗平_VB7vJb2E" initials="罗" lastIdx="0" clrIdx="0"/>
  <p:cmAuthor id="92" name="LeeElva" initials="" lastIdx="1" clrIdx="0"/>
  <p:cmAuthor id="649" name="xixi_nUjqe22E" initials="x" lastIdx="0" clrIdx="0"/>
  <p:cmAuthor id="93" name="未知用户99" initials="" lastIdx="1" clrIdx="2"/>
  <p:cmAuthor id="650" name="唐 赛" initials="唐" lastIdx="1" clrIdx="45"/>
  <p:cmAuthor id="94" name="杨静" initials="杨" lastIdx="1" clrIdx="22"/>
  <p:cmAuthor id="651" name="范 斌" initials="范" lastIdx="1" clrIdx="36"/>
  <p:cmAuthor id="95" name="未知的使用者115" initials="" lastIdx="1" clrIdx="1"/>
  <p:cmAuthor id="652" name="毕邺" initials="毕" lastIdx="2" clrIdx="37"/>
  <p:cmAuthor id="96" name="未知用户57" initials="" lastIdx="1" clrIdx="0"/>
  <p:cmAuthor id="653" name="何 伟" initials="何" lastIdx="1" clrIdx="53"/>
  <p:cmAuthor id="97" name="lianghb" initials="" lastIdx="19" clrIdx="0"/>
  <p:cmAuthor id="654" name="S 风" initials="S" lastIdx="2" clrIdx="55"/>
  <p:cmAuthor id="98" name="未知用户17" initials="" lastIdx="0" clrIdx="1"/>
  <p:cmAuthor id="655" name="张志云" initials="张" lastIdx="1" clrIdx="318"/>
  <p:cmAuthor id="99" name="Deanna Schuler (Bookey Consulting)" initials="" lastIdx="2" clrIdx="0"/>
  <p:cmAuthor id="656" name="谢学斌" initials="谢" lastIdx="0" clrIdx="0"/>
  <p:cmAuthor id="100" name="未知的使用者57" initials="未" lastIdx="1" clrIdx="0"/>
  <p:cmAuthor id="657" name="jialuo" initials="j" lastIdx="0" clrIdx="0"/>
  <p:cmAuthor id="101" name="spring_ren" initials="s" lastIdx="2" clrIdx="1"/>
  <p:cmAuthor id="102" name="毛香勤" initials="毛" lastIdx="26" clrIdx="6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杨彦伟" initials="杨" lastIdx="3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用户51" initials="未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1" initials="1" lastIdx="1" clrIdx="152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60" name="未知的使用者7" initials="" lastIdx="2" clrIdx="0"/>
  <p:cmAuthor id="161" name="高永刚" initials="高" lastIdx="2" clrIdx="36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未知用户54" initials="未" lastIdx="8" clrIdx="0"/>
  <p:cmAuthor id="173" name="Kevin Hu" initials="" lastIdx="1" clrIdx="0"/>
  <p:cmAuthor id="174" name="未知的使用者38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3" name="djj" initials="" lastIdx="2" clrIdx="0"/>
  <p:cmAuthor id="184" name="未知用户117" initials="" lastIdx="1" clrIdx="2"/>
  <p:cmAuthor id="185" name="未知用户12" initials="未" lastIdx="1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 " initials=" " lastIdx="1" clrIdx="6"/>
  <p:cmAuthor id="199" name="未知用户61" initials="" lastIdx="8" clrIdx="0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Yukun Zhang" initials="Y" lastIdx="1" clrIdx="341"/>
  <p:cmAuthor id="212" name="Daniel Wuu" initials="" lastIdx="1" clrIdx="0"/>
  <p:cmAuthor id="213" name="未知用户56" initials="" lastIdx="1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ztolei@163.com" initials="z" lastIdx="1" clrIdx="5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8535702" name="曾蓓/贝贝" initials="曾" lastIdx="0" clrIdx="0"/>
  <p:cmAuthor id="235" name="未知的使用者105" initials="" lastIdx="1" clrIdx="0"/>
  <p:cmAuthor id="236" name="Unknown User70" initials="" lastIdx="1" clrIdx="0"/>
  <p:cmAuthor id="237" name="clinchen" initials="" lastIdx="0" clrIdx="1"/>
  <p:cmAuthor id="210492766" name="yu 1" initials="y1" lastIdx="1" clrIdx="19"/>
  <p:cmAuthor id="238" name="未知用户23" initials="" lastIdx="1" clrIdx="0"/>
  <p:cmAuthor id="210492767" name="易培 杜" initials="易杜" lastIdx="1" clrIdx="76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394525608" name="仇怿俊" initials="仇" lastIdx="0" clrIdx="0"/>
  <p:cmAuthor id="280" name="未知用户68" initials="" lastIdx="1" clrIdx="0"/>
  <p:cmAuthor id="394525609" name="Xiaosu Wang" initials="XW" lastIdx="1" clrIdx="24"/>
  <p:cmAuthor id="281" name="未知用户69" initials="" lastIdx="2" clrIdx="0"/>
  <p:cmAuthor id="394525610" name="罗 罗" initials="罗" lastIdx="1" clrIdx="37"/>
  <p:cmAuthor id="282" name="未知用户70" initials="" lastIdx="1" clrIdx="1"/>
  <p:cmAuthor id="394525611" name="maomao" initials="m" lastIdx="1" clrIdx="49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441412215" name="tonghailan" initials="t" lastIdx="1126972" clrIdx="1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5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刘晓杨" initials="刘" lastIdx="2" clrIdx="319"/>
  <p:cmAuthor id="321" name="未知用户111" initials="未" lastIdx="1" clrIdx="1"/>
  <p:cmAuthor id="322" name="le" initials="l" lastIdx="2" clrIdx="321"/>
  <p:cmAuthor id="323" name="renyina" initials="r" lastIdx="1" clrIdx="322"/>
  <p:cmAuthor id="324" name="zhanglanxin" initials="z" lastIdx="1" clrIdx="323"/>
  <p:cmAuthor id="325" name="zhangzhongmin" initials="zhangzhongmin" lastIdx="1" clrIdx="324"/>
  <p:cmAuthor id="326" name="xiehaoming" initials="xiehaoming" lastIdx="1" clrIdx="325"/>
  <p:cmAuthor id="327" name="Cecilia" initials="C" lastIdx="1" clrIdx="326"/>
  <p:cmAuthor id="328" name="jiangjunrz" initials="jiangjunrz" lastIdx="1" clrIdx="327"/>
  <p:cmAuthor id="329" name="pym" initials="p" lastIdx="1" clrIdx="328"/>
  <p:cmAuthor id="2000" name="李婧宜_YBferYVR" initials="authorId_1217247658" lastIdx="0" clrIdx="0"/>
  <p:cmAuthor id="330" name="KZY" initials="K" lastIdx="1" clrIdx="329"/>
  <p:cmAuthor id="2001" name="潘 晨" initials="潘" lastIdx="2" clrIdx="18"/>
  <p:cmAuthor id="2002" name="song manyi" initials="sm" lastIdx="4" clrIdx="19"/>
  <p:cmAuthor id="332" name="wangxinran" initials="w" lastIdx="1" clrIdx="331"/>
  <p:cmAuthor id="2003" name="administrator" initials="ad" lastIdx="3" clrIdx="23"/>
  <p:cmAuthor id="333" name="zhaoqi" initials="z" lastIdx="1" clrIdx="332"/>
  <p:cmAuthor id="2005" name="Cynthia L" initials="CL" lastIdx="1" clrIdx="37"/>
  <p:cmAuthor id="335" name="李伟（IT）" initials="李" lastIdx="1" clrIdx="334"/>
  <p:cmAuthor id="2006" name="qsl" initials="q" lastIdx="3" clrIdx="38"/>
  <p:cmAuthor id="337" name="zhaoqian" initials="z" lastIdx="1" clrIdx="325"/>
  <p:cmAuthor id="338" name="Rita" initials="R" lastIdx="1" clrIdx="330"/>
  <p:cmAuthor id="339" name="flower" initials="f" lastIdx="1" clrIdx="334"/>
  <p:cmAuthor id="340" name="tonyliu" initials="t" lastIdx="4" clrIdx="335"/>
  <p:cmAuthor id="341" name="hwjjjjjjjj" initials="h" lastIdx="2" clrIdx="336"/>
  <p:cmAuthor id="342" name="macos" initials="m" lastIdx="1" clrIdx="338"/>
  <p:cmAuthor id="343" name="wangchangkun@cmhi.cmcc" initials="w" lastIdx="1" clrIdx="342"/>
  <p:cmAuthor id="345" name="zhoux" initials="z" lastIdx="1" clrIdx="333"/>
  <p:cmAuthor id="346" name="likeyu" initials="l" lastIdx="1" clrIdx="356"/>
  <p:cmAuthor id="347" name="zhangxinyao" initials="z" lastIdx="1" clrIdx="346"/>
  <p:cmAuthor id="348" name="liuyanxue" initials="l" lastIdx="1" clrIdx="364"/>
  <p:cmAuthor id="350" name="lingc" initials="l" lastIdx="1" clrIdx="324"/>
  <p:cmAuthor id="351" name="xuting@sn.cmcc" initials="x" lastIdx="1" clrIdx="40"/>
  <p:cmAuthor id="352" name="59314" initials="5" lastIdx="1" clrIdx="366"/>
  <p:cmAuthor id="353" name="未知用户157" initials="未" lastIdx="8" clrIdx="0"/>
  <p:cmAuthor id="354" name="未知用户158" initials="未" lastIdx="2" clrIdx="0"/>
  <p:cmAuthor id="355" name="未知用户159" initials="未" lastIdx="1" clrIdx="0"/>
  <p:cmAuthor id="356" name="未知用户160" initials="未" lastIdx="2" clrIdx="0"/>
  <p:cmAuthor id="357" name="未知用户168" initials="未" lastIdx="1" clrIdx="0"/>
  <p:cmAuthor id="358" name="順天" initials="順" lastIdx="1" clrIdx="0"/>
  <p:cmAuthor id="359" name="未知用户319" initials="未" lastIdx="1" clrIdx="0"/>
  <p:cmAuthor id="360" name="未知的使用者139" initials="未" lastIdx="1" clrIdx="0"/>
  <p:cmAuthor id="361" name="未知用户87" initials="未" lastIdx="1" clrIdx="0"/>
  <p:cmAuthor id="362" name="未知用户88" initials="未" lastIdx="1" clrIdx="0"/>
  <p:cmAuthor id="363" name="未知用户89" initials="未" lastIdx="1" clrIdx="0"/>
  <p:cmAuthor id="364" name="未知用户211" initials="未" lastIdx="8" clrIdx="0"/>
  <p:cmAuthor id="365" name="未知用户110" initials="未" lastIdx="1" clrIdx="0"/>
  <p:cmAuthor id="366" name="未知用户293" initials="未" lastIdx="1" clrIdx="0"/>
  <p:cmAuthor id="342238991" name="刘付平" initials="刘" lastIdx="5015" clrIdx="0"/>
  <p:cmAuthor id="367" name="未知用户201" initials="未" lastIdx="8" clrIdx="0"/>
  <p:cmAuthor id="368" name="未知用户278" initials="未" lastIdx="1" clrIdx="0"/>
  <p:cmAuthor id="369" name="未知用户279" initials="未" lastIdx="1" clrIdx="0"/>
  <p:cmAuthor id="370" name="未知用户280" initials="未" lastIdx="4" clrIdx="2"/>
  <p:cmAuthor id="371" name="未知用户281" initials="未" lastIdx="1" clrIdx="0"/>
  <p:cmAuthor id="372" name="未知用户282" initials="未" lastIdx="3" clrIdx="1"/>
  <p:cmAuthor id="373" name="未知用户283" initials="未" lastIdx="1" clrIdx="1"/>
  <p:cmAuthor id="374" name="未知用户284" initials="未" lastIdx="1" clrIdx="0"/>
  <p:cmAuthor id="375" name="guanhh" initials="g" lastIdx="3" clrIdx="0"/>
  <p:cmAuthor id="376" name="未知用户169" initials="未" lastIdx="1" clrIdx="0"/>
  <p:cmAuthor id="377" name="未知用户192" initials="未" lastIdx="1" clrIdx="0"/>
  <p:cmAuthor id="378" name="未知用户203" initials="未" lastIdx="1" clrIdx="1"/>
  <p:cmAuthor id="379" name="未知用户290" initials="未" lastIdx="2" clrIdx="0"/>
  <p:cmAuthor id="380" name="未知用户291" initials="未" lastIdx="8" clrIdx="0"/>
  <p:cmAuthor id="381" name="未知用户292" initials="未" lastIdx="1" clrIdx="0"/>
  <p:cmAuthor id="382" name="未知用户184" initials="未" lastIdx="1" clrIdx="1"/>
  <p:cmAuthor id="383" name="未知用户295" initials="未" lastIdx="1" clrIdx="0"/>
  <p:cmAuthor id="384" name="未知用户297" initials="未" lastIdx="1" clrIdx="0"/>
  <p:cmAuthor id="385" name="未知用户181" initials="未" lastIdx="2" clrIdx="0"/>
  <p:cmAuthor id="386" name="ye gusong" initials="y" lastIdx="1" clrIdx="0"/>
  <p:cmAuthor id="387" name="wei muzi" initials="w" lastIdx="1" clrIdx="4"/>
  <p:cmAuthor id="388" name="孙" initials="孙" lastIdx="1" clrIdx="50"/>
  <p:cmAuthor id="1411827" name="黄晓平" initials="黄" lastIdx="0" clrIdx="0"/>
  <p:cmAuthor id="389" name="未知用户187" initials="未" lastIdx="10" clrIdx="0"/>
  <p:cmAuthor id="1411828" name="徐琳00159163" initials="徐琳00159163" lastIdx="1" clrIdx="37"/>
  <p:cmAuthor id="390" name="catherine" initials="c" lastIdx="1" clrIdx="1"/>
  <p:cmAuthor id="1411829" name="Wu, Jing 1. (NSB - CN/Hangzhou)" initials="WJ1(C" lastIdx="2" clrIdx="39"/>
  <p:cmAuthor id="391" name="未知的使用者89" initials="未" lastIdx="5" clrIdx="0"/>
  <p:cmAuthor id="392" name="未知用户287" initials="未" lastIdx="0" clrIdx="1"/>
  <p:cmAuthor id="393" name="未知用户288" initials="未" lastIdx="1" clrIdx="0"/>
  <p:cmAuthor id="394" name="�Ÿ�" initials="�" lastIdx="1" clrIdx="0"/>
  <p:cmAuthor id="395" name="未知的使用者140" initials="未" lastIdx="1" clrIdx="1"/>
  <p:cmAuthor id="396" name="yudi lin" initials="y" lastIdx="0" clrIdx="0"/>
  <p:cmAuthor id="397" name="liuzga" initials="l" lastIdx="1" clrIdx="3"/>
  <p:cmAuthor id="398" name="49554261@qq.com" initials="4" lastIdx="2" clrIdx="2"/>
  <p:cmAuthor id="399" name="未知用户230" initials="未" lastIdx="1" clrIdx="0"/>
  <p:cmAuthor id="400" name="未知用户216" initials="未" lastIdx="1" clrIdx="0"/>
  <p:cmAuthor id="401" name="未知用户266" initials="未" lastIdx="1" clrIdx="1"/>
  <p:cmAuthor id="402" name="未知用户243" initials="未" lastIdx="1" clrIdx="0"/>
  <p:cmAuthor id="403" name="未知用户196" initials="未" lastIdx="1" clrIdx="0"/>
  <p:cmAuthor id="404" name="未知用户219" initials="未" lastIdx="6" clrIdx="0"/>
  <p:cmAuthor id="405" name="未知用户222" initials="未" lastIdx="1" clrIdx="0"/>
  <p:cmAuthor id="406" name="未知用户200" initials="未" lastIdx="8" clrIdx="0"/>
  <p:cmAuthor id="407" name="未知用户213" initials="未" lastIdx="1" clrIdx="0"/>
  <p:cmAuthor id="408" name="未知用户214" initials="未" lastIdx="2" clrIdx="0"/>
  <p:cmAuthor id="409" name="未知用户215" initials="未" lastIdx="1" clrIdx="0"/>
  <p:cmAuthor id="410" name="未知用户231" initials="未" lastIdx="1" clrIdx="0"/>
  <p:cmAuthor id="411" name="未知用户233" initials="未" lastIdx="11" clrIdx="0"/>
  <p:cmAuthor id="412" name="未知用户234" initials="未" lastIdx="7" clrIdx="1"/>
  <p:cmAuthor id="413" name="未知用户235" initials="未" lastIdx="1" clrIdx="2"/>
  <p:cmAuthor id="414" name="未知用户236" initials="未" lastIdx="1" clrIdx="0"/>
  <p:cmAuthor id="415" name="未知用户1" initials="未" lastIdx="2" clrIdx="0"/>
  <p:cmAuthor id="416" name="未知用户240" initials="未" lastIdx="2" clrIdx="0"/>
  <p:cmAuthor id="417" name="未知用户221" initials="未" lastIdx="44" clrIdx="1"/>
  <p:cmAuthor id="418" name="v15194" initials="v" lastIdx="5" clrIdx="87"/>
  <p:cmAuthor id="419" name="Carol Kelly" initials="C" lastIdx="1" clrIdx="0"/>
  <p:cmAuthor id="420" name="未知的使用者155" initials="未" lastIdx="1" clrIdx="0"/>
  <p:cmAuthor id="421" name="未知用户166" initials="未" lastIdx="0" clrIdx="1"/>
  <p:cmAuthor id="422" name="Unknown User55" initials="U" lastIdx="1" clrIdx="1"/>
  <p:cmAuthor id="423" name="未知用户343" initials="未" lastIdx="1" clrIdx="0"/>
  <p:cmAuthor id="424" name="Huipeng Cao" initials="H" lastIdx="1" clrIdx="0"/>
  <p:cmAuthor id="425" name="李 雷雨" initials="李" lastIdx="1" clrIdx="0"/>
  <p:cmAuthor id="426" name="91257" initials="9" lastIdx="0" clrIdx="1"/>
  <p:cmAuthor id="427" name="vicky" initials="v" lastIdx="2" clrIdx="1"/>
  <p:cmAuthor id="428" name="庆芳 许" initials="庆" lastIdx="1" clrIdx="0"/>
  <p:cmAuthor id="429" name="不明使用者2" initials="不" lastIdx="2" clrIdx="0"/>
  <p:cmAuthor id="430" name="不明使用者3" initials="不" lastIdx="1" clrIdx="0"/>
  <p:cmAuthor id="431" name="不明使用者4" initials="不" lastIdx="1" clrIdx="0"/>
  <p:cmAuthor id="432" name="不明使用者6" initials="不" lastIdx="1" clrIdx="0"/>
  <p:cmAuthor id="433" name="不明使用者5" initials="不" lastIdx="11" clrIdx="0"/>
  <p:cmAuthor id="434" name="不明使用者8" initials="不" lastIdx="43" clrIdx="1"/>
  <p:cmAuthor id="435" name="不明使用者9" initials="不" lastIdx="1" clrIdx="0"/>
  <p:cmAuthor id="436" name="不明使用者10" initials="不" lastIdx="0" clrIdx="0"/>
  <p:cmAuthor id="437" name="Think" initials="T" lastIdx="6" clrIdx="3"/>
  <p:cmAuthor id="438" name="敢 王" initials="敢" lastIdx="1" clrIdx="0"/>
  <p:cmAuthor id="439" name="邓 勇" initials="邓" lastIdx="1" clrIdx="0"/>
  <p:cmAuthor id="440" name="陈城" initials="陈" lastIdx="0" clrIdx="2"/>
  <p:cmAuthor id="441" name="Sharon" initials="S" lastIdx="1" clrIdx="2"/>
  <p:cmAuthor id="442" name="yangxy" initials="y" lastIdx="1" clrIdx="88"/>
  <p:cmAuthor id="443" name="Unknown User67" initials="U" lastIdx="1" clrIdx="0"/>
  <p:cmAuthor id="444" name="goulei" initials="g" lastIdx="2" clrIdx="41"/>
  <p:cmAuthor id="445" name="未知的使用者61" initials="未" lastIdx="1" clrIdx="0"/>
  <p:cmAuthor id="446" name="未知用户178" initials="未" lastIdx="1" clrIdx="0"/>
  <p:cmAuthor id="447" name="未知的使用者169" initials="未" lastIdx="1" clrIdx="0"/>
  <p:cmAuthor id="448" name="未知的使用者183" initials="未" lastIdx="5" clrIdx="1"/>
  <p:cmAuthor id="449" name="未知的使用者182" initials="未" lastIdx="1" clrIdx="1"/>
  <p:cmAuthor id="450" name="未知的使用者173" initials="未" lastIdx="1" clrIdx="0"/>
  <p:cmAuthor id="451" name="未知的使用者161" initials="未" lastIdx="1" clrIdx="0"/>
  <p:cmAuthor id="452" name="未知的使用者151" initials="未" lastIdx="1" clrIdx="0"/>
  <p:cmAuthor id="453" name="未知的使用者162" initials="未" lastIdx="1" clrIdx="0"/>
  <p:cmAuthor id="454" name="未知的使用者152" initials="未" lastIdx="1" clrIdx="0"/>
  <p:cmAuthor id="455" name="未知的使用者184" initials="未" lastIdx="8" clrIdx="0"/>
  <p:cmAuthor id="456" name="未知的使用者186" initials="未" lastIdx="1" clrIdx="0"/>
  <p:cmAuthor id="457" name="未知的使用者175" initials="未" lastIdx="8" clrIdx="0"/>
  <p:cmAuthor id="458" name="未知的使用者176" initials="未" lastIdx="1" clrIdx="0"/>
  <p:cmAuthor id="459" name="未知的使用者187" initials="未" lastIdx="2" clrIdx="0"/>
  <p:cmAuthor id="460" name="未知的使用者178" initials="未" lastIdx="1" clrIdx="0"/>
  <p:cmAuthor id="461" name="未知的使用者180" initials="未" lastIdx="2" clrIdx="0"/>
  <p:cmAuthor id="462" name="未知的使用者170" initials="未" lastIdx="43" clrIdx="1"/>
  <p:cmAuthor id="463" name="未知的使用者141" initials="未" lastIdx="8" clrIdx="0"/>
  <p:cmAuthor id="464" name="未知的使用者142" initials="未" lastIdx="1" clrIdx="0"/>
  <p:cmAuthor id="465" name="未知的使用者143" initials="未" lastIdx="1" clrIdx="0"/>
  <p:cmAuthor id="466" name="未知的使用者144" initials="未" lastIdx="1" clrIdx="0"/>
  <p:cmAuthor id="467" name="未知的使用者145" initials="未" lastIdx="1" clrIdx="0"/>
  <p:cmAuthor id="468" name="未知的使用者146" initials="未" lastIdx="1" clrIdx="0"/>
  <p:cmAuthor id="469" name="未知的使用者147" initials="未" lastIdx="1" clrIdx="0"/>
  <p:cmAuthor id="470" name="未知的使用者148" initials="未" lastIdx="8" clrIdx="0"/>
  <p:cmAuthor id="471" name="未知的使用者149" initials="未" lastIdx="8" clrIdx="0"/>
  <p:cmAuthor id="473" name="未知用户130" initials="未" lastIdx="1" clrIdx="1"/>
  <p:cmAuthor id="474" name="未知用户131" initials="未" lastIdx="1" clrIdx="2"/>
  <p:cmAuthor id="475" name="未知用户132" initials="未" lastIdx="1" clrIdx="0"/>
  <p:cmAuthor id="476" name="未知用户133" initials="未" lastIdx="1" clrIdx="0"/>
  <p:cmAuthor id="477" name="未知用户134" initials="未" lastIdx="10" clrIdx="0"/>
  <p:cmAuthor id="478" name="未知用户135" initials="未" lastIdx="1" clrIdx="0"/>
  <p:cmAuthor id="480" name="俊呈 賴" initials="俊" lastIdx="1" clrIdx="87"/>
  <p:cmAuthor id="481" name="未知的使用者204" initials="未" lastIdx="1" clrIdx="0"/>
  <p:cmAuthor id="482" name="Yoyo Wu" initials="Y" lastIdx="2" clrIdx="0"/>
  <p:cmAuthor id="483" name="zhangbin" initials="z" lastIdx="6" clrIdx="0"/>
  <p:cmAuthor id="484" name="Arno.Du(杜明星)" initials="A" lastIdx="0" clrIdx="0"/>
  <p:cmAuthor id="485" name="未知用户174" initials="未" lastIdx="1" clrIdx="0"/>
  <p:cmAuthor id="486" name="Unknown User27" initials="U" lastIdx="1" clrIdx="0"/>
  <p:cmAuthor id="487" name="未知的使用者221" initials="未" lastIdx="1" clrIdx="0"/>
  <p:cmAuthor id="488" name="未知的使用者222" initials="未" lastIdx="5" clrIdx="1"/>
  <p:cmAuthor id="489" name="未知的使用者223" initials="未" lastIdx="1" clrIdx="1"/>
  <p:cmAuthor id="490" name="未知的使用者224" initials="未" lastIdx="1" clrIdx="0"/>
  <p:cmAuthor id="491" name="未知的使用者225" initials="未" lastIdx="1" clrIdx="0"/>
  <p:cmAuthor id="492" name="未知的使用者226" initials="未" lastIdx="1" clrIdx="0"/>
  <p:cmAuthor id="493" name="未知的使用者227" initials="未" lastIdx="1" clrIdx="0"/>
  <p:cmAuthor id="494" name="未知的使用者217" initials="未" lastIdx="1" clrIdx="1"/>
  <p:cmAuthor id="495" name="未知的使用者218" initials="未" lastIdx="1" clrIdx="2"/>
  <p:cmAuthor id="496" name="未知的使用者219" initials="未" lastIdx="8" clrIdx="0"/>
  <p:cmAuthor id="497" name="未知的使用者220" initials="未" lastIdx="1" clrIdx="0"/>
  <p:cmAuthor id="498" name="未知的使用者228" initials="未" lastIdx="1" clrIdx="0"/>
  <p:cmAuthor id="499" name="未知的使用者229" initials="未" lastIdx="8" clrIdx="0"/>
  <p:cmAuthor id="500" name="未知的使用者230" initials="未" lastIdx="1" clrIdx="0"/>
  <p:cmAuthor id="501" name="未知的使用者231" initials="未" lastIdx="1" clrIdx="0"/>
  <p:cmAuthor id="502" name="未知的使用者232" initials="未" lastIdx="8" clrIdx="0"/>
  <p:cmAuthor id="503" name="未知的使用者233" initials="未" lastIdx="1" clrIdx="0"/>
  <p:cmAuthor id="504" name="未知的使用者234" initials="未" lastIdx="1" clrIdx="0"/>
  <p:cmAuthor id="505" name="未知的使用者130" initials="未" lastIdx="3" clrIdx="0"/>
  <p:cmAuthor id="506" name="未知的使用者131" initials="未" lastIdx="1" clrIdx="0"/>
  <p:cmAuthor id="507" name="未知的使用者132" initials="未" lastIdx="1" clrIdx="0"/>
  <p:cmAuthor id="508" name="Evonlin" initials="E" lastIdx="2" clrIdx="2"/>
  <p:cmAuthor id="509" name="未知的使用者235" initials="未" lastIdx="1" clrIdx="0"/>
  <p:cmAuthor id="510" name="未知的使用者236" initials="未" lastIdx="1" clrIdx="0"/>
  <p:cmAuthor id="511" name="未知的使用者237" initials="未" lastIdx="2" clrIdx="0"/>
  <p:cmAuthor id="512" name="未知的使用者238" initials="未" lastIdx="7" clrIdx="1"/>
  <p:cmAuthor id="513" name="未知的使用者239" initials="未" lastIdx="43" clrIdx="1"/>
  <p:cmAuthor id="514" name="未知的使用者136" initials="未" lastIdx="1" clrIdx="0"/>
  <p:cmAuthor id="515" name="未知的使用者134" initials="未" lastIdx="0" clrIdx="0"/>
  <p:cmAuthor id="516" name="未知的使用者206" initials="未" lastIdx="1" clrIdx="0"/>
  <p:cmAuthor id="517" name="Kent" initials="K" lastIdx="2" clrIdx="0"/>
  <p:cmAuthor id="518" name="梅芬 吳" initials="梅" lastIdx="1" clrIdx="85"/>
  <p:cmAuthor id="519" name="王嘉偉" initials="王" lastIdx="2" clrIdx="0"/>
  <p:cmAuthor id="520" name="未知的使用者210" initials="未" lastIdx="0" clrIdx="0"/>
  <p:cmAuthor id="521" name="未知的使用者211" initials="未" lastIdx="1" clrIdx="0"/>
  <p:cmAuthor id="47245819" name="群智集" initials="群" lastIdx="0" clrIdx="0"/>
  <p:cmAuthor id="522" name="未知的使用者212" initials="未" lastIdx="1" clrIdx="0"/>
  <p:cmAuthor id="47245820" name="郏 鹏" initials="郏" lastIdx="1" clrIdx="16"/>
  <p:cmAuthor id="523" name="未知的使用者213" initials="未" lastIdx="1" clrIdx="0"/>
  <p:cmAuthor id="47245821" name="郏鹏" initials="M" lastIdx="1" clrIdx="17"/>
  <p:cmAuthor id="524" name="未知的使用者214" initials="未" lastIdx="1" clrIdx="1"/>
  <p:cmAuthor id="525" name="未知的使用者215" initials="未" lastIdx="1" clrIdx="0"/>
  <p:cmAuthor id="526" name="未知的使用者216" initials="未" lastIdx="1" clrIdx="0"/>
  <p:cmAuthor id="287643682" name="z r" initials="zr" lastIdx="5" clrIdx="12"/>
  <p:cmAuthor id="527" name="王丽君" initials="王" lastIdx="4" clrIdx="0"/>
  <p:cmAuthor id="287643683" name="lc xue" initials="lx" lastIdx="1" clrIdx="22"/>
  <p:cmAuthor id="528" name="Xia Ting" initials="X" lastIdx="1" clrIdx="0"/>
  <p:cmAuthor id="287643684" name="孟芳芳（借调）" initials="V" lastIdx="2" clrIdx="37"/>
  <p:cmAuthor id="529" name="未知用户163" initials="未" lastIdx="8" clrIdx="0"/>
  <p:cmAuthor id="287643685" name="muxiaohan" initials="m" lastIdx="1" clrIdx="37"/>
  <p:cmAuthor id="530" name="未知用户164" initials="未" lastIdx="1" clrIdx="0"/>
  <p:cmAuthor id="287643686" name="YaoChunfen" initials="Y" lastIdx="1" clrIdx="39"/>
  <p:cmAuthor id="531" name="未知用户10" initials="未" lastIdx="1" clrIdx="0"/>
  <p:cmAuthor id="287643687" name="cheng" initials="c" lastIdx="13" clrIdx="0"/>
  <p:cmAuthor id="532" name="未知用户191" initials="未" lastIdx="1" clrIdx="0"/>
  <p:cmAuthor id="533" name="未知用户167" initials="未" lastIdx="1" clrIdx="0"/>
  <p:cmAuthor id="534" name="未知的使用者163" initials="未" lastIdx="1" clrIdx="0"/>
  <p:cmAuthor id="535" name="未知的使用者88" initials="未" lastIdx="1" clrIdx="1"/>
  <p:cmAuthor id="536" name="未知的使用者165" initials="未" lastIdx="1" clrIdx="0"/>
  <p:cmAuthor id="537" name="未知的使用者158" initials="未" lastIdx="1" clrIdx="0"/>
  <p:cmAuthor id="538" name="jerrychou" initials="j" lastIdx="1" clrIdx="4"/>
  <p:cmAuthor id="539" name="不明使用者12" initials="不" lastIdx="3" clrIdx="1"/>
  <p:cmAuthor id="540" name="不明使用者1" initials="不" lastIdx="0" clrIdx="0"/>
  <p:cmAuthor id="541" name="未知的使用者166" initials="未" lastIdx="8" clrIdx="0"/>
  <p:cmAuthor id="287643696" name="周君_MfIffYra" initials="authorId_375419134" lastIdx="0" clrIdx="0"/>
  <p:cmAuthor id="542" name="未知的使用者167" initials="未" lastIdx="0" clrIdx="1"/>
  <p:cmAuthor id="543" name="未知的使用者159" initials="未" lastIdx="1" clrIdx="1"/>
  <p:cmAuthor id="544" name="未知的使用者160" initials="未" lastIdx="1" clrIdx="0"/>
  <p:cmAuthor id="545" name="未知的使用者168" initials="未" lastIdx="1" clrIdx="0"/>
  <p:cmAuthor id="546" name="不明使用者7" initials="不" lastIdx="7" clrIdx="1"/>
  <p:cmAuthor id="547" name="未知用户120" initials="未" lastIdx="1" clrIdx="0"/>
  <p:cmAuthor id="548" name="未知用户122" initials="未" lastIdx="1" clrIdx="0"/>
  <p:cmAuthor id="549" name="未知用户139" initials="未" lastIdx="2" clrIdx="0"/>
  <p:cmAuthor id="550" name="不明使用者11" initials="不" lastIdx="1" clrIdx="0"/>
  <p:cmAuthor id="551" name="Unknown User24" initials="U" lastIdx="1" clrIdx="0"/>
  <p:cmAuthor id="552" name="未知用户141" initials="未" lastIdx="1" clrIdx="1"/>
  <p:cmAuthor id="553" name="未知用户145" initials="未" lastIdx="2" clrIdx="0"/>
  <p:cmAuthor id="554" name="未知用户119" initials="未" lastIdx="1" clrIdx="1"/>
  <p:cmAuthor id="555" name="未知用户140" initials="未" lastIdx="0" clrIdx="1"/>
  <p:cmAuthor id="556" name="未知用户143" initials="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007D"/>
    <a:srgbClr val="41016F"/>
    <a:srgbClr val="DA663B"/>
    <a:srgbClr val="FCE8E1"/>
    <a:srgbClr val="202021"/>
    <a:srgbClr val="DFA62A"/>
    <a:srgbClr val="EFF3F5"/>
    <a:srgbClr val="F2682A"/>
    <a:srgbClr val="FFFFFF"/>
    <a:srgbClr val="FF9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85" autoAdjust="0"/>
    <p:restoredTop sz="86544" autoAdjust="0"/>
  </p:normalViewPr>
  <p:slideViewPr>
    <p:cSldViewPr snapToGrid="0" showGuides="1">
      <p:cViewPr varScale="1">
        <p:scale>
          <a:sx n="93" d="100"/>
          <a:sy n="93" d="100"/>
        </p:scale>
        <p:origin x="225" y="60"/>
      </p:cViewPr>
      <p:guideLst>
        <p:guide pos="7423"/>
        <p:guide orient="horz" pos="5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93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  <a:ea typeface="微软雅黑" panose="020B0503020204020204" charset="-122"/>
              </a:rPr>
              <a:t>2026/10/9</a:t>
            </a:fld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  <a:ea typeface="微软雅黑" panose="020B0503020204020204" charset="-122"/>
              </a:rPr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D6C8D182-E4C8-4120-9249-FC9774456FF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本次由广东移动汇报生态协同平台的数据迁移规划，重点说明迁哪些数据、迁到哪里、如何平滑切换，以及需要各方提前提供什么配合。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本轮明确总体安排和验证重点。具体接口参数、执行脚本、迁移批次及切换操作，将在取得样本并完成验证后纳入实施方案。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数据并非全部迁入智信，而是经过统一迁移处理后分类承接。组织用户进入新平台账号体系并关联智信账号；群组和消息安排智信承接；文件本体进入专属存储；培训、审批等记录进入各自业务模块。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广东移动统一组织数据获取、对象映射、格式转换、导入和校核。确需采用历史档案查询的，应明确保留效果并经业务确认。后台迁移和用户自助迁移共用映射及任务台账，避免形成两套互不关联的数据。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【</a:t>
            </a:r>
            <a:r>
              <a:rPr lang="zh-CN" altLang="en-US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两个专项工作</a:t>
            </a:r>
            <a:r>
              <a:rPr lang="en-US" alt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】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历史聊天需要优先做源端和目标端的联合验证。源端先确认实际交付渠道、历史年限、消息类型和附件完整性；目标端再核实智信的数据结构、导入接口和终端展示效果。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原版智信不能直接接收时，由广东移动组织转换、导入适配及必要的兼容开发，智信配合接口、结构和终端扩展验证。导入历史消息不能按新消息重新发送，避免产生推送并改变原始时间或发送者含义。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最终保留效果要区分在智信会话中查看和在历史档案中查询，两者并不等同。采用哪一种方式，应结合取得的数据和验证结果，由业务方确认。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后台迁移和用户自助迁移是同一套迁移服务的两个入口。后台负责组织级、业务级数据的提取、转换、批量导入及对账；用户入口主要负责核验原账号和资料归属、选择允许迁移的内容、查看结果和反馈异常。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两种方式共用账号映射、任务台账、去重、校核和异常处理，确保后台已迁的数据不会被个人补迁重复导入或覆盖。用户自助是补充方式，不意味着用户登录后就能绕过钉钉权限读取全部历史数据，实际可取范围仍需验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用户自助迁移从身份和归属核验开始，而不是直接上传资料。用户查看获授权的数据范围，选择内容并提交迁移请求后，由后台统一执行；前台提供进度、成功记录及异常结果，方便用户反馈和申请补迁。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补迁处理后，用户可以确认本人资料，但个人确认不能替代整体数据校核。允许补交的文件还需要通过格式、安全和归属检查，不能自动把用户上传材料认定为原生聊天记录或可信审批轨迹。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迁移按六个阶段推进。先用代表性样本确认源端能取、目标能接；再通过演练检查转换、重试、校核和回退；之后分批迁移稳定历史数据，补齐期间变化，并明确新旧平台办理入口。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正式切换以关键数据、权限和业务条件检查通过为前提。未满足条件时先处理问题、补迁复核；切换后确需回退的，要保存新增数据，按预案恢复业务。具体工期、批次和窗口依据实际容量、接口配额及试迁效率确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并行期间必须明确哪些事项继续在旧平台完成、哪些业务已经转入新平台，不能让同一事项在两边同时办理。增量补齐不仅处理新增记录，也要识别修改、删除、撤销及权限变化，避免恢复已删除内容或造成状态冲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回退不等于简单切回旧入口，还需要保护新平台已经产生的数据和执行记录。旧平台退出则应等待历史资料保留、业务确认、用户反馈处理和运维交接完成。仍有在办事项或历史查阅依赖时，不能仅因计划日期已到就结束旧平台服务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以上是本次数据迁移规划。建议先协调管理员及相关产品方，提供数据目录、数量级和代表性样本，由广东移动组织源端获取与目标承接验证。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在明确历史资料保留效果和在途业务接续安排后，再细化实施方案、迁移批次及切换步骤。请各方就重点保留数据、业务连续要求及准备事项提出意见。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g object 16">
            <a:extLst>
              <a:ext uri="{FF2B5EF4-FFF2-40B4-BE49-F238E27FC236}">
                <a16:creationId xmlns:a16="http://schemas.microsoft.com/office/drawing/2014/main" id="{6D3FF91B-BA61-036B-1B5B-7DE3E125EDE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" y="5080000"/>
            <a:ext cx="5723467" cy="1778000"/>
          </a:xfrm>
          <a:prstGeom prst="rect">
            <a:avLst/>
          </a:prstGeom>
        </p:spPr>
      </p:pic>
      <p:pic>
        <p:nvPicPr>
          <p:cNvPr id="5" name="bg object 18">
            <a:extLst>
              <a:ext uri="{FF2B5EF4-FFF2-40B4-BE49-F238E27FC236}">
                <a16:creationId xmlns:a16="http://schemas.microsoft.com/office/drawing/2014/main" id="{8BBF8D36-B877-6929-9033-25CEFE0E1CDB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441709" y="178967"/>
            <a:ext cx="1395994" cy="458396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C36C2AE-4100-C9F8-A9C3-2069BF2BB3C0}"/>
              </a:ext>
            </a:extLst>
          </p:cNvPr>
          <p:cNvCxnSpPr/>
          <p:nvPr userDrawn="1"/>
        </p:nvCxnSpPr>
        <p:spPr>
          <a:xfrm>
            <a:off x="0" y="810787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22FB7D75-F556-E1E4-E9F0-AA39D2E513CD}"/>
              </a:ext>
            </a:extLst>
          </p:cNvPr>
          <p:cNvSpPr/>
          <p:nvPr userDrawn="1"/>
        </p:nvSpPr>
        <p:spPr>
          <a:xfrm>
            <a:off x="-1" y="208140"/>
            <a:ext cx="354297" cy="400050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6">
            <a:extLst>
              <a:ext uri="{FF2B5EF4-FFF2-40B4-BE49-F238E27FC236}">
                <a16:creationId xmlns:a16="http://schemas.microsoft.com/office/drawing/2014/main" id="{B1963FD3-A3A0-2C20-3DF7-C77E9443FEE1}"/>
              </a:ext>
            </a:extLst>
          </p:cNvPr>
          <p:cNvSpPr/>
          <p:nvPr userDrawn="1"/>
        </p:nvSpPr>
        <p:spPr>
          <a:xfrm>
            <a:off x="412389" y="208140"/>
            <a:ext cx="123825" cy="400050"/>
          </a:xfrm>
          <a:prstGeom prst="rect">
            <a:avLst/>
          </a:prstGeom>
          <a:solidFill>
            <a:srgbClr val="DCFAF2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646AE93B-BED8-9BBB-E658-28F577B97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346" y="182880"/>
            <a:ext cx="9713364" cy="4583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zh-CN" altLang="en-US" sz="2400" b="1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914400" rtl="0" eaLnBrk="1" latinLnBrk="0" hangingPunct="1">
              <a:buClrTx/>
              <a:buSzTx/>
              <a:buFontTx/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48337056-4D52-0616-31EC-D3F618CB9A3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4953" y="6581778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D22A9B9D-F489-47CC-B092-8D0AF136DDC1}" type="slidenum">
              <a:rPr lang="zh-CN" altLang="en-US" sz="1200" b="1" smtClean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006F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2847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object 18">
            <a:extLst>
              <a:ext uri="{FF2B5EF4-FFF2-40B4-BE49-F238E27FC236}">
                <a16:creationId xmlns:a16="http://schemas.microsoft.com/office/drawing/2014/main" id="{2589EB59-AD16-03D6-6F8F-2759CCAC6F89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441709" y="178967"/>
            <a:ext cx="1395994" cy="458396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2BBF466-A81A-716E-EECF-E08F79D67BEC}"/>
              </a:ext>
            </a:extLst>
          </p:cNvPr>
          <p:cNvCxnSpPr/>
          <p:nvPr userDrawn="1"/>
        </p:nvCxnSpPr>
        <p:spPr>
          <a:xfrm>
            <a:off x="0" y="810787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C1698F5-E563-7716-2DAC-B2DC0DEDAD64}"/>
              </a:ext>
            </a:extLst>
          </p:cNvPr>
          <p:cNvSpPr/>
          <p:nvPr userDrawn="1"/>
        </p:nvSpPr>
        <p:spPr>
          <a:xfrm>
            <a:off x="-1" y="208140"/>
            <a:ext cx="354297" cy="400050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6">
            <a:extLst>
              <a:ext uri="{FF2B5EF4-FFF2-40B4-BE49-F238E27FC236}">
                <a16:creationId xmlns:a16="http://schemas.microsoft.com/office/drawing/2014/main" id="{2B0F30D5-D2A1-4EE5-F69C-430BC8152C9A}"/>
              </a:ext>
            </a:extLst>
          </p:cNvPr>
          <p:cNvSpPr/>
          <p:nvPr userDrawn="1"/>
        </p:nvSpPr>
        <p:spPr>
          <a:xfrm>
            <a:off x="412389" y="208140"/>
            <a:ext cx="123825" cy="400050"/>
          </a:xfrm>
          <a:prstGeom prst="rect">
            <a:avLst/>
          </a:prstGeom>
          <a:solidFill>
            <a:srgbClr val="DCFAF2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75DD816A-6043-D960-48E0-67684D4FF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346" y="182880"/>
            <a:ext cx="9713364" cy="4583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zh-CN" altLang="en-US" sz="2400" b="1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914400" rtl="0" eaLnBrk="1" latinLnBrk="0" hangingPunct="1">
              <a:buClrTx/>
              <a:buSzTx/>
              <a:buFontTx/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400D7629-7CB3-ED1E-BF07-C0240612CA4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4953" y="6581778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D22A9B9D-F489-47CC-B092-8D0AF136DDC1}" type="slidenum">
              <a:rPr lang="zh-CN" altLang="en-US" sz="1200" b="1" smtClean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006F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765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23309F7-2415-CDB7-AE92-4F6DD6B0FC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13"/>
            <a:ext cx="12192000" cy="6858000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EC445350-7FFB-BD77-F87C-13B49CF404B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4953" y="6581778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D22A9B9D-F489-47CC-B092-8D0AF136DDC1}" type="slidenum">
              <a:rPr lang="zh-CN" altLang="en-US" sz="1200" b="1" smtClean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006F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8">
            <a:extLst>
              <a:ext uri="{FF2B5EF4-FFF2-40B4-BE49-F238E27FC236}">
                <a16:creationId xmlns:a16="http://schemas.microsoft.com/office/drawing/2014/main" id="{7F9284B7-AF4A-1D62-50C3-E2439B9A87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/>
          <a:srcRect t="22265" b="22265"/>
          <a:stretch>
            <a:fillRect/>
          </a:stretch>
        </p:blipFill>
        <p:spPr>
          <a:xfrm>
            <a:off x="9276009" y="71108"/>
            <a:ext cx="2843104" cy="118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982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CDBFEC47-ACC6-9DED-A1FA-543B60FE826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4953" y="6581778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D22A9B9D-F489-47CC-B092-8D0AF136DDC1}" type="slidenum">
              <a:rPr lang="zh-CN" altLang="en-US" sz="1200" b="1" smtClean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006F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0700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4" r:id="rId2"/>
    <p:sldLayoutId id="2147483692" r:id="rId3"/>
    <p:sldLayoutId id="214748369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 2"/>
          <p:cNvSpPr txBox="1"/>
          <p:nvPr/>
        </p:nvSpPr>
        <p:spPr>
          <a:xfrm>
            <a:off x="914400" y="2196388"/>
            <a:ext cx="10287000" cy="594360"/>
          </a:xfrm>
          <a:prstGeom prst="rect">
            <a:avLst/>
          </a:prstGeom>
          <a:noFill/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1" dirty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南方区域电力市场生态协同平台</a:t>
            </a:r>
          </a:p>
        </p:txBody>
      </p:sp>
      <p:sp>
        <p:nvSpPr>
          <p:cNvPr id="3" name="内容 3"/>
          <p:cNvSpPr txBox="1"/>
          <p:nvPr/>
        </p:nvSpPr>
        <p:spPr>
          <a:xfrm>
            <a:off x="914400" y="2955340"/>
            <a:ext cx="10287000" cy="822960"/>
          </a:xfrm>
          <a:prstGeom prst="rect">
            <a:avLst/>
          </a:prstGeom>
          <a:noFill/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1" dirty="0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数据迁移规划方案</a:t>
            </a:r>
          </a:p>
        </p:txBody>
      </p:sp>
      <p:sp>
        <p:nvSpPr>
          <p:cNvPr id="4" name="内容 4"/>
          <p:cNvSpPr txBox="1"/>
          <p:nvPr/>
        </p:nvSpPr>
        <p:spPr>
          <a:xfrm>
            <a:off x="1828800" y="4330596"/>
            <a:ext cx="850392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广东移动</a:t>
            </a:r>
          </a:p>
        </p:txBody>
      </p:sp>
      <p:sp>
        <p:nvSpPr>
          <p:cNvPr id="5" name="内容 5"/>
          <p:cNvSpPr txBox="1"/>
          <p:nvPr/>
        </p:nvSpPr>
        <p:spPr>
          <a:xfrm>
            <a:off x="1828800" y="4824372"/>
            <a:ext cx="850392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>
            <a:spLocks noGrp="1"/>
          </p:cNvSpPr>
          <p:nvPr>
            <p:ph type="title"/>
          </p:nvPr>
        </p:nvSpPr>
        <p:spPr>
          <a:xfrm>
            <a:off x="728346" y="182880"/>
            <a:ext cx="9713364" cy="4583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四、数据分类迁移规划 </a:t>
            </a:r>
            <a:r>
              <a:rPr lang="en-US" altLang="zh-CN" sz="24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- </a:t>
            </a:r>
            <a:r>
              <a:rPr lang="zh-CN" sz="24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数据来源与迁移去向</a:t>
            </a:r>
          </a:p>
        </p:txBody>
      </p:sp>
      <p:sp>
        <p:nvSpPr>
          <p:cNvPr id="101" name="内容 101"/>
          <p:cNvSpPr txBox="1"/>
          <p:nvPr/>
        </p:nvSpPr>
        <p:spPr>
          <a:xfrm>
            <a:off x="731520" y="969264"/>
            <a:ext cx="10789920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广东移动统一组织数据获取、账号映射、格式转换和导入适配，并按数据类型分送至新平台相应系统。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组织、消息、文件和业务记录分别承接；历史档案查询作为经确认的保留方式，不将全部数据笼统归入智信。</a:t>
            </a:r>
          </a:p>
        </p:txBody>
      </p:sp>
      <p:sp>
        <p:nvSpPr>
          <p:cNvPr id="102" name="内容 102"/>
          <p:cNvSpPr txBox="1"/>
          <p:nvPr/>
        </p:nvSpPr>
        <p:spPr>
          <a:xfrm>
            <a:off x="731520" y="2160270"/>
            <a:ext cx="2880360" cy="326441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01  数据来源</a:t>
            </a:r>
          </a:p>
        </p:txBody>
      </p:sp>
      <p:sp>
        <p:nvSpPr>
          <p:cNvPr id="103" name="内容 103"/>
          <p:cNvSpPr txBox="1"/>
          <p:nvPr/>
        </p:nvSpPr>
        <p:spPr>
          <a:xfrm>
            <a:off x="4069080" y="2160270"/>
            <a:ext cx="2743200" cy="326441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02  迁移处理</a:t>
            </a:r>
          </a:p>
        </p:txBody>
      </p:sp>
      <p:sp>
        <p:nvSpPr>
          <p:cNvPr id="104" name="内容 104"/>
          <p:cNvSpPr txBox="1"/>
          <p:nvPr/>
        </p:nvSpPr>
        <p:spPr>
          <a:xfrm>
            <a:off x="7388352" y="2160270"/>
            <a:ext cx="4069080" cy="326441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03  迁移去向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D9B30E2-6E29-DD3A-6952-147EBC3D87BA}"/>
              </a:ext>
            </a:extLst>
          </p:cNvPr>
          <p:cNvGrpSpPr/>
          <p:nvPr/>
        </p:nvGrpSpPr>
        <p:grpSpPr>
          <a:xfrm>
            <a:off x="731520" y="2595524"/>
            <a:ext cx="3337560" cy="2829154"/>
            <a:chOff x="731520" y="2649931"/>
            <a:chExt cx="3337560" cy="2393900"/>
          </a:xfrm>
        </p:grpSpPr>
        <p:sp>
          <p:nvSpPr>
            <p:cNvPr id="105" name="内容 105"/>
            <p:cNvSpPr/>
            <p:nvPr/>
          </p:nvSpPr>
          <p:spPr>
            <a:xfrm>
              <a:off x="731520" y="2649931"/>
              <a:ext cx="2834640" cy="481889"/>
            </a:xfrm>
            <a:prstGeom prst="rect">
              <a:avLst/>
            </a:prstGeom>
            <a:solidFill>
              <a:schemeClr val="accent3">
                <a:lumMod val="35000"/>
                <a:lumOff val="65000"/>
              </a:schemeClr>
            </a:solidFill>
            <a:ln w="12700">
              <a:noFill/>
            </a:ln>
          </p:spPr>
          <p:txBody>
            <a:bodyPr wrap="square" lIns="109728" tIns="45720" rIns="109728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 b="0">
                  <a:solidFill>
                    <a:schemeClr val="dk2"/>
                  </a:solidFill>
                  <a:latin typeface="Arial"/>
                  <a:ea typeface="Microsoft YaHei"/>
                  <a:cs typeface="Arial"/>
                </a:rPr>
                <a:t>钉钉组织用户及协同数据</a:t>
              </a:r>
            </a:p>
          </p:txBody>
        </p:sp>
        <p:cxnSp>
          <p:nvCxnSpPr>
            <p:cNvPr id="106" name="连接线 106"/>
            <p:cNvCxnSpPr/>
            <p:nvPr/>
          </p:nvCxnSpPr>
          <p:spPr>
            <a:xfrm>
              <a:off x="3566160" y="2890876"/>
              <a:ext cx="228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</p:cxnSp>
        <p:sp>
          <p:nvSpPr>
            <p:cNvPr id="107" name="内容 107"/>
            <p:cNvSpPr/>
            <p:nvPr/>
          </p:nvSpPr>
          <p:spPr>
            <a:xfrm>
              <a:off x="731520" y="3287268"/>
              <a:ext cx="2834640" cy="481889"/>
            </a:xfrm>
            <a:prstGeom prst="rect">
              <a:avLst/>
            </a:prstGeom>
            <a:solidFill>
              <a:schemeClr val="accent3">
                <a:lumMod val="35000"/>
                <a:lumOff val="65000"/>
              </a:schemeClr>
            </a:solidFill>
            <a:ln w="12700">
              <a:noFill/>
            </a:ln>
          </p:spPr>
          <p:txBody>
            <a:bodyPr wrap="square" lIns="109728" tIns="45720" rIns="109728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 b="0">
                  <a:solidFill>
                    <a:schemeClr val="dk2"/>
                  </a:solidFill>
                  <a:latin typeface="Arial"/>
                  <a:ea typeface="Microsoft YaHei"/>
                  <a:cs typeface="Arial"/>
                </a:rPr>
                <a:t>钉盘文件及在线文档</a:t>
              </a:r>
            </a:p>
          </p:txBody>
        </p:sp>
        <p:cxnSp>
          <p:nvCxnSpPr>
            <p:cNvPr id="108" name="连接线 108"/>
            <p:cNvCxnSpPr/>
            <p:nvPr/>
          </p:nvCxnSpPr>
          <p:spPr>
            <a:xfrm>
              <a:off x="3566160" y="3528212"/>
              <a:ext cx="228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</p:cxnSp>
        <p:sp>
          <p:nvSpPr>
            <p:cNvPr id="109" name="内容 109"/>
            <p:cNvSpPr/>
            <p:nvPr/>
          </p:nvSpPr>
          <p:spPr>
            <a:xfrm>
              <a:off x="731520" y="3924605"/>
              <a:ext cx="2834640" cy="481889"/>
            </a:xfrm>
            <a:prstGeom prst="rect">
              <a:avLst/>
            </a:prstGeom>
            <a:solidFill>
              <a:schemeClr val="accent3">
                <a:lumMod val="35000"/>
                <a:lumOff val="65000"/>
              </a:schemeClr>
            </a:solidFill>
            <a:ln w="12700">
              <a:noFill/>
            </a:ln>
          </p:spPr>
          <p:txBody>
            <a:bodyPr wrap="square" lIns="109728" tIns="45720" rIns="109728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 b="0">
                  <a:solidFill>
                    <a:schemeClr val="dk2"/>
                  </a:solidFill>
                  <a:latin typeface="Arial"/>
                  <a:ea typeface="Microsoft YaHei"/>
                  <a:cs typeface="Arial"/>
                </a:rPr>
                <a:t>钉钉与第三方业务产品</a:t>
              </a:r>
            </a:p>
          </p:txBody>
        </p:sp>
        <p:cxnSp>
          <p:nvCxnSpPr>
            <p:cNvPr id="110" name="连接线 110"/>
            <p:cNvCxnSpPr/>
            <p:nvPr/>
          </p:nvCxnSpPr>
          <p:spPr>
            <a:xfrm>
              <a:off x="3566160" y="4165549"/>
              <a:ext cx="228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</p:cxnSp>
        <p:sp>
          <p:nvSpPr>
            <p:cNvPr id="111" name="内容 111"/>
            <p:cNvSpPr/>
            <p:nvPr/>
          </p:nvSpPr>
          <p:spPr>
            <a:xfrm>
              <a:off x="731520" y="4561942"/>
              <a:ext cx="2834640" cy="481889"/>
            </a:xfrm>
            <a:prstGeom prst="rect">
              <a:avLst/>
            </a:prstGeom>
            <a:solidFill>
              <a:schemeClr val="accent3">
                <a:lumMod val="35000"/>
                <a:lumOff val="65000"/>
              </a:schemeClr>
            </a:solidFill>
            <a:ln w="12700">
              <a:noFill/>
            </a:ln>
          </p:spPr>
          <p:txBody>
            <a:bodyPr wrap="square" lIns="109728" tIns="45720" rIns="109728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 b="0">
                  <a:solidFill>
                    <a:schemeClr val="dk2"/>
                  </a:solidFill>
                  <a:latin typeface="Arial"/>
                  <a:ea typeface="Microsoft YaHei"/>
                  <a:cs typeface="Arial"/>
                </a:rPr>
                <a:t>原自建业务系统</a:t>
              </a:r>
            </a:p>
          </p:txBody>
        </p:sp>
        <p:cxnSp>
          <p:nvCxnSpPr>
            <p:cNvPr id="112" name="连接线 112"/>
            <p:cNvCxnSpPr/>
            <p:nvPr/>
          </p:nvCxnSpPr>
          <p:spPr>
            <a:xfrm>
              <a:off x="3566160" y="4802886"/>
              <a:ext cx="228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</p:cxnSp>
        <p:cxnSp>
          <p:nvCxnSpPr>
            <p:cNvPr id="113" name="连接线 113"/>
            <p:cNvCxnSpPr/>
            <p:nvPr/>
          </p:nvCxnSpPr>
          <p:spPr>
            <a:xfrm>
              <a:off x="3794760" y="2890876"/>
              <a:ext cx="0" cy="191201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</p:cxnSp>
        <p:cxnSp>
          <p:nvCxnSpPr>
            <p:cNvPr id="114" name="连接线 114"/>
            <p:cNvCxnSpPr/>
            <p:nvPr/>
          </p:nvCxnSpPr>
          <p:spPr>
            <a:xfrm>
              <a:off x="3794760" y="3831336"/>
              <a:ext cx="274320" cy="0"/>
            </a:xfrm>
            <a:prstGeom prst="line">
              <a:avLst/>
            </a:prstGeom>
            <a:ln w="19050">
              <a:solidFill>
                <a:schemeClr val="accent1"/>
              </a:solidFill>
              <a:tailEnd type="arrow" w="med" len="med"/>
            </a:ln>
          </p:spPr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3D6049A-CB62-530C-6F9F-A750FF73C9EB}"/>
              </a:ext>
            </a:extLst>
          </p:cNvPr>
          <p:cNvGrpSpPr/>
          <p:nvPr/>
        </p:nvGrpSpPr>
        <p:grpSpPr>
          <a:xfrm>
            <a:off x="4069080" y="2595524"/>
            <a:ext cx="2743200" cy="2829154"/>
            <a:chOff x="4069080" y="2587752"/>
            <a:chExt cx="2743200" cy="2829154"/>
          </a:xfrm>
        </p:grpSpPr>
        <p:sp>
          <p:nvSpPr>
            <p:cNvPr id="115" name="内容 115"/>
            <p:cNvSpPr/>
            <p:nvPr/>
          </p:nvSpPr>
          <p:spPr>
            <a:xfrm>
              <a:off x="4069080" y="2587752"/>
              <a:ext cx="2743200" cy="2829154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</p:spPr>
          <p:txBody>
            <a:bodyPr wrap="square" lIns="109728" tIns="45720" rIns="109728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16" name="内容 116"/>
            <p:cNvSpPr txBox="1"/>
            <p:nvPr/>
          </p:nvSpPr>
          <p:spPr>
            <a:xfrm>
              <a:off x="4261104" y="2758745"/>
              <a:ext cx="2359152" cy="34975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 b="1">
                  <a:solidFill>
                    <a:schemeClr val="lt1"/>
                  </a:solidFill>
                  <a:latin typeface="Arial"/>
                  <a:ea typeface="Microsoft YaHei"/>
                  <a:cs typeface="Arial"/>
                </a:rPr>
                <a:t>广东移动迁移处理</a:t>
              </a:r>
            </a:p>
          </p:txBody>
        </p:sp>
        <p:sp>
          <p:nvSpPr>
            <p:cNvPr id="117" name="内容 117"/>
            <p:cNvSpPr/>
            <p:nvPr/>
          </p:nvSpPr>
          <p:spPr>
            <a:xfrm>
              <a:off x="4297680" y="3256178"/>
              <a:ext cx="320040" cy="272034"/>
            </a:xfrm>
            <a:prstGeom prst="rect">
              <a:avLst/>
            </a:prstGeom>
            <a:solidFill>
              <a:schemeClr val="lt1"/>
            </a:solidFill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 b="1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18" name="内容 118"/>
            <p:cNvSpPr txBox="1"/>
            <p:nvPr/>
          </p:nvSpPr>
          <p:spPr>
            <a:xfrm>
              <a:off x="4718304" y="3240634"/>
              <a:ext cx="1956816" cy="31089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 b="0">
                  <a:solidFill>
                    <a:schemeClr val="lt1"/>
                  </a:solidFill>
                  <a:latin typeface="Arial"/>
                  <a:ea typeface="Microsoft YaHei"/>
                  <a:cs typeface="Arial"/>
                </a:rPr>
                <a:t>经授权获取数据</a:t>
              </a:r>
            </a:p>
          </p:txBody>
        </p:sp>
        <p:sp>
          <p:nvSpPr>
            <p:cNvPr id="119" name="内容 119"/>
            <p:cNvSpPr/>
            <p:nvPr/>
          </p:nvSpPr>
          <p:spPr>
            <a:xfrm>
              <a:off x="4297680" y="3722522"/>
              <a:ext cx="320040" cy="272034"/>
            </a:xfrm>
            <a:prstGeom prst="rect">
              <a:avLst/>
            </a:prstGeom>
            <a:solidFill>
              <a:schemeClr val="lt1"/>
            </a:solidFill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 b="1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20" name="内容 120"/>
            <p:cNvSpPr txBox="1"/>
            <p:nvPr/>
          </p:nvSpPr>
          <p:spPr>
            <a:xfrm>
              <a:off x="4718304" y="3706978"/>
              <a:ext cx="1956816" cy="31089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 b="0">
                  <a:solidFill>
                    <a:schemeClr val="lt1"/>
                  </a:solidFill>
                  <a:latin typeface="Arial"/>
                  <a:ea typeface="Microsoft YaHei"/>
                  <a:cs typeface="Arial"/>
                </a:rPr>
                <a:t>账号及业务对象映射</a:t>
              </a:r>
            </a:p>
          </p:txBody>
        </p:sp>
        <p:sp>
          <p:nvSpPr>
            <p:cNvPr id="121" name="内容 121"/>
            <p:cNvSpPr/>
            <p:nvPr/>
          </p:nvSpPr>
          <p:spPr>
            <a:xfrm>
              <a:off x="4297680" y="4188866"/>
              <a:ext cx="320040" cy="272034"/>
            </a:xfrm>
            <a:prstGeom prst="rect">
              <a:avLst/>
            </a:prstGeom>
            <a:solidFill>
              <a:schemeClr val="lt1"/>
            </a:solidFill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 b="1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22" name="内容 122"/>
            <p:cNvSpPr txBox="1"/>
            <p:nvPr/>
          </p:nvSpPr>
          <p:spPr>
            <a:xfrm>
              <a:off x="4718304" y="4173322"/>
              <a:ext cx="1956816" cy="31089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 b="0">
                  <a:solidFill>
                    <a:schemeClr val="lt1"/>
                  </a:solidFill>
                  <a:latin typeface="Arial"/>
                  <a:ea typeface="Microsoft YaHei"/>
                  <a:cs typeface="Arial"/>
                </a:rPr>
                <a:t>格式转换、导入适配</a:t>
              </a:r>
            </a:p>
          </p:txBody>
        </p:sp>
        <p:sp>
          <p:nvSpPr>
            <p:cNvPr id="123" name="内容 123"/>
            <p:cNvSpPr/>
            <p:nvPr/>
          </p:nvSpPr>
          <p:spPr>
            <a:xfrm>
              <a:off x="4297680" y="4655210"/>
              <a:ext cx="320040" cy="272034"/>
            </a:xfrm>
            <a:prstGeom prst="rect">
              <a:avLst/>
            </a:prstGeom>
            <a:solidFill>
              <a:schemeClr val="lt1"/>
            </a:solidFill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 b="1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124" name="内容 124"/>
            <p:cNvSpPr txBox="1"/>
            <p:nvPr/>
          </p:nvSpPr>
          <p:spPr>
            <a:xfrm>
              <a:off x="4718304" y="4639666"/>
              <a:ext cx="1956816" cy="31089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 b="0">
                  <a:solidFill>
                    <a:schemeClr val="lt1"/>
                  </a:solidFill>
                  <a:latin typeface="Arial"/>
                  <a:ea typeface="Microsoft YaHei"/>
                  <a:cs typeface="Arial"/>
                </a:rPr>
                <a:t>校核、重试与补迁</a:t>
              </a:r>
            </a:p>
          </p:txBody>
        </p:sp>
      </p:grpSp>
      <p:cxnSp>
        <p:nvCxnSpPr>
          <p:cNvPr id="125" name="连接线 125"/>
          <p:cNvCxnSpPr>
            <a:cxnSpLocks/>
          </p:cNvCxnSpPr>
          <p:nvPr/>
        </p:nvCxnSpPr>
        <p:spPr>
          <a:xfrm>
            <a:off x="6812280" y="4017873"/>
            <a:ext cx="301752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1FC9B221-4383-91D9-2FF8-754351A52A59}"/>
              </a:ext>
            </a:extLst>
          </p:cNvPr>
          <p:cNvGrpSpPr/>
          <p:nvPr/>
        </p:nvGrpSpPr>
        <p:grpSpPr>
          <a:xfrm>
            <a:off x="7114032" y="2595524"/>
            <a:ext cx="4343400" cy="2829154"/>
            <a:chOff x="7114032" y="2603297"/>
            <a:chExt cx="4343400" cy="2844698"/>
          </a:xfrm>
        </p:grpSpPr>
        <p:cxnSp>
          <p:nvCxnSpPr>
            <p:cNvPr id="126" name="连接线 126"/>
            <p:cNvCxnSpPr/>
            <p:nvPr/>
          </p:nvCxnSpPr>
          <p:spPr>
            <a:xfrm>
              <a:off x="7114032" y="2844241"/>
              <a:ext cx="0" cy="236281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</p:cxnSp>
        <p:cxnSp>
          <p:nvCxnSpPr>
            <p:cNvPr id="127" name="连接线 127"/>
            <p:cNvCxnSpPr/>
            <p:nvPr/>
          </p:nvCxnSpPr>
          <p:spPr>
            <a:xfrm>
              <a:off x="7114032" y="2844241"/>
              <a:ext cx="274320" cy="0"/>
            </a:xfrm>
            <a:prstGeom prst="line">
              <a:avLst/>
            </a:prstGeom>
            <a:ln w="19050">
              <a:solidFill>
                <a:schemeClr val="accent1"/>
              </a:solidFill>
              <a:tailEnd type="arrow" w="med" len="med"/>
            </a:ln>
          </p:spPr>
        </p:cxnSp>
        <p:sp>
          <p:nvSpPr>
            <p:cNvPr id="128" name="内容 128"/>
            <p:cNvSpPr/>
            <p:nvPr/>
          </p:nvSpPr>
          <p:spPr>
            <a:xfrm>
              <a:off x="7388352" y="2603297"/>
              <a:ext cx="4069080" cy="4818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</p:spPr>
          <p:txBody>
            <a:bodyPr wrap="square" lIns="109728" tIns="45720" rIns="109728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 b="0">
                  <a:solidFill>
                    <a:schemeClr val="dk2"/>
                  </a:solidFill>
                  <a:latin typeface="Arial"/>
                  <a:ea typeface="Microsoft YaHei"/>
                  <a:cs typeface="Arial"/>
                </a:rPr>
                <a:t>组织用户体系及智信账号</a:t>
              </a:r>
            </a:p>
          </p:txBody>
        </p:sp>
        <p:cxnSp>
          <p:nvCxnSpPr>
            <p:cNvPr id="129" name="连接线 129"/>
            <p:cNvCxnSpPr/>
            <p:nvPr/>
          </p:nvCxnSpPr>
          <p:spPr>
            <a:xfrm>
              <a:off x="7114032" y="3434944"/>
              <a:ext cx="274320" cy="0"/>
            </a:xfrm>
            <a:prstGeom prst="line">
              <a:avLst/>
            </a:prstGeom>
            <a:ln w="19050">
              <a:solidFill>
                <a:schemeClr val="accent1"/>
              </a:solidFill>
              <a:tailEnd type="arrow" w="med" len="med"/>
            </a:ln>
          </p:spPr>
        </p:cxnSp>
        <p:sp>
          <p:nvSpPr>
            <p:cNvPr id="130" name="内容 130"/>
            <p:cNvSpPr/>
            <p:nvPr/>
          </p:nvSpPr>
          <p:spPr>
            <a:xfrm>
              <a:off x="7388352" y="3193999"/>
              <a:ext cx="4069080" cy="4818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</p:spPr>
          <p:txBody>
            <a:bodyPr wrap="square" lIns="109728" tIns="45720" rIns="109728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 b="0">
                  <a:solidFill>
                    <a:schemeClr val="dk2"/>
                  </a:solidFill>
                  <a:latin typeface="Arial"/>
                  <a:ea typeface="Microsoft YaHei"/>
                  <a:cs typeface="Arial"/>
                </a:rPr>
                <a:t>智信群组及历史消息</a:t>
              </a:r>
            </a:p>
          </p:txBody>
        </p:sp>
        <p:cxnSp>
          <p:nvCxnSpPr>
            <p:cNvPr id="131" name="连接线 131"/>
            <p:cNvCxnSpPr/>
            <p:nvPr/>
          </p:nvCxnSpPr>
          <p:spPr>
            <a:xfrm>
              <a:off x="7114032" y="4025646"/>
              <a:ext cx="274320" cy="0"/>
            </a:xfrm>
            <a:prstGeom prst="line">
              <a:avLst/>
            </a:prstGeom>
            <a:ln w="19050">
              <a:solidFill>
                <a:schemeClr val="accent1"/>
              </a:solidFill>
              <a:tailEnd type="arrow" w="med" len="med"/>
            </a:ln>
          </p:spPr>
        </p:cxnSp>
        <p:sp>
          <p:nvSpPr>
            <p:cNvPr id="132" name="内容 132"/>
            <p:cNvSpPr/>
            <p:nvPr/>
          </p:nvSpPr>
          <p:spPr>
            <a:xfrm>
              <a:off x="7388352" y="3784702"/>
              <a:ext cx="4069080" cy="4818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</p:spPr>
          <p:txBody>
            <a:bodyPr wrap="square" lIns="109728" tIns="45720" rIns="109728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 b="0">
                  <a:solidFill>
                    <a:schemeClr val="dk2"/>
                  </a:solidFill>
                  <a:latin typeface="Arial"/>
                  <a:ea typeface="Microsoft YaHei"/>
                  <a:cs typeface="Arial"/>
                </a:rPr>
                <a:t>专属存储与文件管理</a:t>
              </a:r>
            </a:p>
          </p:txBody>
        </p:sp>
        <p:cxnSp>
          <p:nvCxnSpPr>
            <p:cNvPr id="133" name="连接线 133"/>
            <p:cNvCxnSpPr/>
            <p:nvPr/>
          </p:nvCxnSpPr>
          <p:spPr>
            <a:xfrm>
              <a:off x="7114032" y="4616348"/>
              <a:ext cx="274320" cy="0"/>
            </a:xfrm>
            <a:prstGeom prst="line">
              <a:avLst/>
            </a:prstGeom>
            <a:ln w="19050">
              <a:solidFill>
                <a:schemeClr val="accent1"/>
              </a:solidFill>
              <a:tailEnd type="arrow" w="med" len="med"/>
            </a:ln>
          </p:spPr>
        </p:cxnSp>
        <p:sp>
          <p:nvSpPr>
            <p:cNvPr id="134" name="内容 134"/>
            <p:cNvSpPr/>
            <p:nvPr/>
          </p:nvSpPr>
          <p:spPr>
            <a:xfrm>
              <a:off x="7388352" y="4375404"/>
              <a:ext cx="4069080" cy="4818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</p:spPr>
          <p:txBody>
            <a:bodyPr wrap="square" lIns="109728" tIns="45720" rIns="109728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 b="0">
                  <a:solidFill>
                    <a:schemeClr val="dk2"/>
                  </a:solidFill>
                  <a:latin typeface="Arial"/>
                  <a:ea typeface="Microsoft YaHei"/>
                  <a:cs typeface="Arial"/>
                </a:rPr>
                <a:t>培训、审批等业务模块</a:t>
              </a:r>
            </a:p>
          </p:txBody>
        </p:sp>
        <p:cxnSp>
          <p:nvCxnSpPr>
            <p:cNvPr id="135" name="连接线 135"/>
            <p:cNvCxnSpPr/>
            <p:nvPr/>
          </p:nvCxnSpPr>
          <p:spPr>
            <a:xfrm>
              <a:off x="7114032" y="5207051"/>
              <a:ext cx="274320" cy="0"/>
            </a:xfrm>
            <a:prstGeom prst="line">
              <a:avLst/>
            </a:prstGeom>
            <a:ln w="19050">
              <a:solidFill>
                <a:schemeClr val="accent1"/>
              </a:solidFill>
              <a:tailEnd type="arrow" w="med" len="med"/>
            </a:ln>
          </p:spPr>
        </p:cxnSp>
        <p:sp>
          <p:nvSpPr>
            <p:cNvPr id="136" name="内容 136"/>
            <p:cNvSpPr/>
            <p:nvPr/>
          </p:nvSpPr>
          <p:spPr>
            <a:xfrm>
              <a:off x="7388352" y="4966106"/>
              <a:ext cx="4069080" cy="481889"/>
            </a:xfrm>
            <a:prstGeom prst="rect">
              <a:avLst/>
            </a:prstGeom>
            <a:solidFill>
              <a:schemeClr val="accent4">
                <a:lumMod val="12000"/>
                <a:lumOff val="88000"/>
              </a:schemeClr>
            </a:solidFill>
            <a:ln w="12700">
              <a:noFill/>
            </a:ln>
          </p:spPr>
          <p:txBody>
            <a:bodyPr wrap="square" lIns="109728" tIns="45720" rIns="109728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 b="0">
                  <a:solidFill>
                    <a:schemeClr val="dk2"/>
                  </a:solidFill>
                  <a:latin typeface="Arial"/>
                  <a:ea typeface="Microsoft YaHei"/>
                  <a:cs typeface="Arial"/>
                </a:rPr>
                <a:t>经确认的历史档案查询</a:t>
              </a:r>
            </a:p>
          </p:txBody>
        </p:sp>
      </p:grpSp>
      <p:sp>
        <p:nvSpPr>
          <p:cNvPr id="137" name="内容 137"/>
          <p:cNvSpPr txBox="1"/>
          <p:nvPr/>
        </p:nvSpPr>
        <p:spPr>
          <a:xfrm>
            <a:off x="731520" y="5704026"/>
            <a:ext cx="1078992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并非所有数据都迁入智信</a:t>
            </a:r>
          </a:p>
        </p:txBody>
      </p:sp>
      <p:sp>
        <p:nvSpPr>
          <p:cNvPr id="138" name="内容 138"/>
          <p:cNvSpPr txBox="1"/>
          <p:nvPr/>
        </p:nvSpPr>
        <p:spPr>
          <a:xfrm>
            <a:off x="731520" y="6117336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后台迁移和用户自助迁移共用任务台账、对象映射及核验能力。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>
            <a:spLocks noGrp="1"/>
          </p:cNvSpPr>
          <p:nvPr>
            <p:ph type="title"/>
          </p:nvPr>
        </p:nvSpPr>
        <p:spPr>
          <a:xfrm>
            <a:off x="728346" y="182880"/>
            <a:ext cx="9713364" cy="4583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四、数据分类迁移规划 </a:t>
            </a:r>
            <a:r>
              <a:rPr lang="en-US" altLang="zh-CN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- </a:t>
            </a:r>
            <a:r>
              <a:rPr lang="zh-CN" altLang="en-US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专项</a:t>
            </a:r>
            <a:r>
              <a:rPr lang="en-US" altLang="zh-CN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1</a:t>
            </a:r>
            <a:r>
              <a:rPr lang="zh-CN" altLang="en-US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（</a:t>
            </a:r>
            <a:r>
              <a:rPr lang="zh-CN" sz="24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历史聊天迁移与智信适配</a:t>
            </a:r>
            <a:r>
              <a:rPr lang="zh-CN" altLang="en-US" sz="24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）</a:t>
            </a:r>
            <a:endParaRPr lang="zh-CN" sz="2400" b="1">
              <a:solidFill>
                <a:schemeClr val="accent1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01" name="内容 101"/>
          <p:cNvSpPr txBox="1"/>
          <p:nvPr/>
        </p:nvSpPr>
        <p:spPr>
          <a:xfrm>
            <a:off x="731520" y="969264"/>
            <a:ext cx="10789920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历史聊天迁移需同时验证钉钉的数据交付范围和智信的承接效果，覆盖原发送者、时间、消息类型及附件关系。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广东移动组织必要的兼容开发，智信配合接口与终端验证；会话查看或档案查询两种成果需经业务确认。</a:t>
            </a:r>
          </a:p>
        </p:txBody>
      </p:sp>
      <p:sp>
        <p:nvSpPr>
          <p:cNvPr id="102" name="内容 102"/>
          <p:cNvSpPr/>
          <p:nvPr/>
        </p:nvSpPr>
        <p:spPr>
          <a:xfrm>
            <a:off x="731520" y="2240280"/>
            <a:ext cx="3154680" cy="3337560"/>
          </a:xfrm>
          <a:prstGeom prst="rect">
            <a:avLst/>
          </a:prstGeom>
          <a:solidFill>
            <a:schemeClr val="accent3">
              <a:lumMod val="32000"/>
              <a:lumOff val="68000"/>
            </a:schemeClr>
          </a:solidFill>
          <a:ln w="12700">
            <a:noFill/>
          </a:ln>
        </p:spPr>
        <p:txBody>
          <a:bodyPr wrap="square" lIns="118872" tIns="1234440" rIns="118872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源端取得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核实导出渠道与历史范围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覆盖文本、图片、文件等类型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检查原发送者、时间及附件</a:t>
            </a:r>
          </a:p>
        </p:txBody>
      </p:sp>
      <p:cxnSp>
        <p:nvCxnSpPr>
          <p:cNvPr id="103" name="连接线 103"/>
          <p:cNvCxnSpPr>
            <a:cxnSpLocks/>
          </p:cNvCxnSpPr>
          <p:nvPr/>
        </p:nvCxnSpPr>
        <p:spPr>
          <a:xfrm>
            <a:off x="3931920" y="3909060"/>
            <a:ext cx="301752" cy="0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  <p:sp>
        <p:nvSpPr>
          <p:cNvPr id="104" name="内容 104"/>
          <p:cNvSpPr/>
          <p:nvPr/>
        </p:nvSpPr>
        <p:spPr>
          <a:xfrm>
            <a:off x="4297680" y="2240280"/>
            <a:ext cx="3017520" cy="3337560"/>
          </a:xfrm>
          <a:prstGeom prst="rect">
            <a:avLst/>
          </a:prstGeom>
          <a:solidFill>
            <a:schemeClr val="accent2">
              <a:lumMod val="30000"/>
              <a:lumOff val="70000"/>
            </a:schemeClr>
          </a:solidFill>
          <a:ln w="12700">
            <a:noFill/>
          </a:ln>
        </p:spPr>
        <p:txBody>
          <a:bodyPr wrap="square" lIns="118872" tIns="1234440" rIns="118872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目标端适配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广东移动组织转换和导入开发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智信配合接口、结构与终端扩展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历史导入不触发新消息推送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85E8E3A-F71E-EDB4-4411-88D4AD22710D}"/>
              </a:ext>
            </a:extLst>
          </p:cNvPr>
          <p:cNvGrpSpPr/>
          <p:nvPr/>
        </p:nvGrpSpPr>
        <p:grpSpPr>
          <a:xfrm>
            <a:off x="7315200" y="3003804"/>
            <a:ext cx="502920" cy="1810512"/>
            <a:chOff x="7315200" y="2999232"/>
            <a:chExt cx="502920" cy="1810512"/>
          </a:xfrm>
        </p:grpSpPr>
        <p:cxnSp>
          <p:nvCxnSpPr>
            <p:cNvPr id="105" name="连接线 105"/>
            <p:cNvCxnSpPr>
              <a:cxnSpLocks/>
            </p:cNvCxnSpPr>
            <p:nvPr/>
          </p:nvCxnSpPr>
          <p:spPr>
            <a:xfrm>
              <a:off x="7315200" y="3904488"/>
              <a:ext cx="256032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</p:cxn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06D72DF-5E62-46E5-281A-88AA479C5387}"/>
                </a:ext>
              </a:extLst>
            </p:cNvPr>
            <p:cNvGrpSpPr/>
            <p:nvPr/>
          </p:nvGrpSpPr>
          <p:grpSpPr>
            <a:xfrm>
              <a:off x="7571232" y="2999232"/>
              <a:ext cx="246888" cy="1810512"/>
              <a:chOff x="7571232" y="2999232"/>
              <a:chExt cx="246888" cy="1810512"/>
            </a:xfrm>
          </p:grpSpPr>
          <p:cxnSp>
            <p:nvCxnSpPr>
              <p:cNvPr id="106" name="连接线 106"/>
              <p:cNvCxnSpPr/>
              <p:nvPr/>
            </p:nvCxnSpPr>
            <p:spPr>
              <a:xfrm>
                <a:off x="7571232" y="2999232"/>
                <a:ext cx="0" cy="1810512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</p:cxnSp>
          <p:cxnSp>
            <p:nvCxnSpPr>
              <p:cNvPr id="107" name="连接线 107"/>
              <p:cNvCxnSpPr/>
              <p:nvPr/>
            </p:nvCxnSpPr>
            <p:spPr>
              <a:xfrm>
                <a:off x="7571232" y="2999232"/>
                <a:ext cx="246888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tailEnd type="arrow" w="med" len="med"/>
              </a:ln>
            </p:spPr>
          </p:cxnSp>
          <p:cxnSp>
            <p:nvCxnSpPr>
              <p:cNvPr id="108" name="连接线 108"/>
              <p:cNvCxnSpPr/>
              <p:nvPr/>
            </p:nvCxnSpPr>
            <p:spPr>
              <a:xfrm>
                <a:off x="7571232" y="4809744"/>
                <a:ext cx="246888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tailEnd type="arrow" w="med" len="med"/>
              </a:ln>
            </p:spPr>
          </p:cxnSp>
        </p:grpSp>
      </p:grpSp>
      <p:sp>
        <p:nvSpPr>
          <p:cNvPr id="109" name="内容 109"/>
          <p:cNvSpPr/>
          <p:nvPr/>
        </p:nvSpPr>
        <p:spPr>
          <a:xfrm>
            <a:off x="7863840" y="2240280"/>
            <a:ext cx="3611880" cy="1536192"/>
          </a:xfrm>
          <a:prstGeom prst="rect">
            <a:avLst/>
          </a:prstGeom>
          <a:solidFill>
            <a:schemeClr val="accent2">
              <a:lumMod val="17000"/>
              <a:lumOff val="83000"/>
            </a:schemeClr>
          </a:solidFill>
          <a:ln w="12700">
            <a:noFill/>
          </a:ln>
        </p:spPr>
        <p:txBody>
          <a:bodyPr wrap="square" lIns="118872" tIns="45720" rIns="118872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智信会话中查看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在对应会话查看已迁历史消息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核对发送者、顺序、时间与附件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验证终端展示效果</a:t>
            </a:r>
          </a:p>
        </p:txBody>
      </p:sp>
      <p:sp>
        <p:nvSpPr>
          <p:cNvPr id="110" name="内容 110"/>
          <p:cNvSpPr/>
          <p:nvPr/>
        </p:nvSpPr>
        <p:spPr>
          <a:xfrm>
            <a:off x="7863840" y="4041648"/>
            <a:ext cx="3611880" cy="1536192"/>
          </a:xfrm>
          <a:prstGeom prst="rect">
            <a:avLst/>
          </a:prstGeom>
          <a:solidFill>
            <a:schemeClr val="accent4">
              <a:lumMod val="12000"/>
              <a:lumOff val="88000"/>
            </a:schemeClr>
          </a:solidFill>
          <a:ln w="12700">
            <a:noFill/>
          </a:ln>
        </p:spPr>
        <p:txBody>
          <a:bodyPr wrap="square" lIns="118872" tIns="45720" rIns="118872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历史档案中查询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按群组、人员、时间查阅资料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核对上下文、来源及访问权限</a:t>
            </a:r>
          </a:p>
        </p:txBody>
      </p:sp>
      <p:sp>
        <p:nvSpPr>
          <p:cNvPr id="111" name="内容 111"/>
          <p:cNvSpPr txBox="1"/>
          <p:nvPr/>
        </p:nvSpPr>
        <p:spPr>
          <a:xfrm>
            <a:off x="731520" y="6080760"/>
            <a:ext cx="1078992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档案查询与原生会话恢复是不同成果，采用方式须经业务确认，不能笼统写成“全部迁入智信”。</a:t>
            </a:r>
          </a:p>
        </p:txBody>
      </p:sp>
      <p:pic>
        <p:nvPicPr>
          <p:cNvPr id="2001" name="二维透明素材 chat" descr="AI生成概念图，非产品截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2240280"/>
            <a:ext cx="1554480" cy="1554480"/>
          </a:xfrm>
          <a:prstGeom prst="rect">
            <a:avLst/>
          </a:prstGeom>
        </p:spPr>
      </p:pic>
      <p:sp>
        <p:nvSpPr>
          <p:cNvPr id="2002" name="原生平台图标 2002"/>
          <p:cNvSpPr/>
          <p:nvPr/>
        </p:nvSpPr>
        <p:spPr>
          <a:xfrm>
            <a:off x="5675041" y="3255264"/>
            <a:ext cx="235367" cy="15800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003" name="原生平台图标 2003"/>
          <p:cNvSpPr/>
          <p:nvPr/>
        </p:nvSpPr>
        <p:spPr>
          <a:xfrm>
            <a:off x="5426598" y="3404494"/>
            <a:ext cx="732252" cy="7022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004" name="原生平台图标 2004"/>
          <p:cNvSpPr/>
          <p:nvPr/>
        </p:nvSpPr>
        <p:spPr>
          <a:xfrm>
            <a:off x="5138928" y="2596896"/>
            <a:ext cx="1307592" cy="684703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005" name="原生平台图标 2005"/>
          <p:cNvSpPr/>
          <p:nvPr/>
        </p:nvSpPr>
        <p:spPr>
          <a:xfrm>
            <a:off x="5217384" y="2658344"/>
            <a:ext cx="1150681" cy="553029"/>
          </a:xfrm>
          <a:prstGeom prst="rect">
            <a:avLst/>
          </a:prstGeom>
          <a:solidFill>
            <a:schemeClr val="lt1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006" name="原生平台图标 2006"/>
          <p:cNvSpPr/>
          <p:nvPr/>
        </p:nvSpPr>
        <p:spPr>
          <a:xfrm>
            <a:off x="5335067" y="2825130"/>
            <a:ext cx="261518" cy="20190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007" name="原生平台图标 2007"/>
          <p:cNvSpPr/>
          <p:nvPr/>
        </p:nvSpPr>
        <p:spPr>
          <a:xfrm>
            <a:off x="5661965" y="2825130"/>
            <a:ext cx="261518" cy="20190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008" name="原生平台图标 2008"/>
          <p:cNvSpPr/>
          <p:nvPr/>
        </p:nvSpPr>
        <p:spPr>
          <a:xfrm>
            <a:off x="5988863" y="2825130"/>
            <a:ext cx="261518" cy="20190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>
            <a:spLocks noGrp="1"/>
          </p:cNvSpPr>
          <p:nvPr>
            <p:ph type="title"/>
          </p:nvPr>
        </p:nvSpPr>
        <p:spPr>
          <a:xfrm>
            <a:off x="728346" y="182880"/>
            <a:ext cx="9713364" cy="4583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五、</a:t>
            </a:r>
            <a:r>
              <a:rPr lang="zh-CN" altLang="zh-CN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账号关联与</a:t>
            </a:r>
            <a:r>
              <a:rPr lang="zh-CN" altLang="en-US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用户迁移 </a:t>
            </a:r>
            <a:r>
              <a:rPr lang="en-US" altLang="zh-CN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- </a:t>
            </a:r>
            <a:r>
              <a:rPr lang="zh-CN" sz="24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后台迁移与用户自助迁移</a:t>
            </a:r>
          </a:p>
        </p:txBody>
      </p:sp>
      <p:sp>
        <p:nvSpPr>
          <p:cNvPr id="101" name="内容 101"/>
          <p:cNvSpPr txBox="1"/>
          <p:nvPr/>
        </p:nvSpPr>
        <p:spPr>
          <a:xfrm>
            <a:off x="731520" y="969264"/>
            <a:ext cx="10789920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后台迁移承担组织级、业务级数据提取、转换与批量导入，用户自助入口承担身份核验、内容选择及结果反馈。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两类入口共用账号映射、任务台账、去重和校核服务，避免后台已迁数据与个人补迁内容重复或相互覆盖。</a:t>
            </a:r>
          </a:p>
        </p:txBody>
      </p:sp>
      <p:sp>
        <p:nvSpPr>
          <p:cNvPr id="102" name="内容 102"/>
          <p:cNvSpPr/>
          <p:nvPr/>
        </p:nvSpPr>
        <p:spPr>
          <a:xfrm>
            <a:off x="731520" y="2099006"/>
            <a:ext cx="10744200" cy="1111453"/>
          </a:xfrm>
          <a:prstGeom prst="rect">
            <a:avLst/>
          </a:prstGeom>
          <a:solidFill>
            <a:schemeClr val="accent2">
              <a:lumMod val="12000"/>
              <a:lumOff val="88000"/>
            </a:schemeClr>
          </a:solidFill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03" name="内容 103"/>
          <p:cNvSpPr/>
          <p:nvPr/>
        </p:nvSpPr>
        <p:spPr>
          <a:xfrm>
            <a:off x="731520" y="3559302"/>
            <a:ext cx="10744200" cy="1111453"/>
          </a:xfrm>
          <a:prstGeom prst="rect">
            <a:avLst/>
          </a:prstGeom>
          <a:solidFill>
            <a:schemeClr val="accent4">
              <a:lumMod val="7000"/>
              <a:lumOff val="93000"/>
            </a:schemeClr>
          </a:solidFill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04" name="内容 104"/>
          <p:cNvSpPr/>
          <p:nvPr/>
        </p:nvSpPr>
        <p:spPr>
          <a:xfrm>
            <a:off x="731520" y="2099006"/>
            <a:ext cx="1920240" cy="1111453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1">
                <a:solidFill>
                  <a:schemeClr val="lt1"/>
                </a:solidFill>
                <a:latin typeface="Arial"/>
                <a:ea typeface="Microsoft YaHei"/>
                <a:cs typeface="Arial"/>
              </a:rPr>
              <a:t>系统后台迁移</a:t>
            </a:r>
          </a:p>
        </p:txBody>
      </p:sp>
      <p:sp>
        <p:nvSpPr>
          <p:cNvPr id="105" name="内容 105"/>
          <p:cNvSpPr/>
          <p:nvPr/>
        </p:nvSpPr>
        <p:spPr>
          <a:xfrm>
            <a:off x="731520" y="3559302"/>
            <a:ext cx="1920240" cy="1111453"/>
          </a:xfrm>
          <a:prstGeom prst="rect">
            <a:avLst/>
          </a:prstGeom>
          <a:solidFill>
            <a:schemeClr val="accent4">
              <a:lumMod val="45000"/>
              <a:lumOff val="55000"/>
            </a:schemeClr>
          </a:solidFill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1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用户自助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1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前台迁移</a:t>
            </a:r>
          </a:p>
        </p:txBody>
      </p:sp>
      <p:sp>
        <p:nvSpPr>
          <p:cNvPr id="106" name="内容 106"/>
          <p:cNvSpPr/>
          <p:nvPr/>
        </p:nvSpPr>
        <p:spPr>
          <a:xfrm>
            <a:off x="2898648" y="2200047"/>
            <a:ext cx="2359152" cy="893826"/>
          </a:xfrm>
          <a:prstGeom prst="rect">
            <a:avLst/>
          </a:prstGeom>
          <a:solidFill>
            <a:schemeClr val="lt1"/>
          </a:solidFill>
          <a:ln w="12700"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提取与转换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数据提取、转换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附件关联</a:t>
            </a:r>
          </a:p>
        </p:txBody>
      </p:sp>
      <p:cxnSp>
        <p:nvCxnSpPr>
          <p:cNvPr id="107" name="连接线 107"/>
          <p:cNvCxnSpPr/>
          <p:nvPr/>
        </p:nvCxnSpPr>
        <p:spPr>
          <a:xfrm>
            <a:off x="5294376" y="2643074"/>
            <a:ext cx="320040" cy="0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  <p:sp>
        <p:nvSpPr>
          <p:cNvPr id="108" name="内容 108"/>
          <p:cNvSpPr/>
          <p:nvPr/>
        </p:nvSpPr>
        <p:spPr>
          <a:xfrm>
            <a:off x="5660136" y="2200047"/>
            <a:ext cx="2359152" cy="893826"/>
          </a:xfrm>
          <a:prstGeom prst="rect">
            <a:avLst/>
          </a:prstGeom>
          <a:solidFill>
            <a:schemeClr val="lt1"/>
          </a:solidFill>
          <a:ln w="12700"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批量导入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组织级及业务级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数据批量导入</a:t>
            </a:r>
          </a:p>
        </p:txBody>
      </p:sp>
      <p:cxnSp>
        <p:nvCxnSpPr>
          <p:cNvPr id="109" name="连接线 109"/>
          <p:cNvCxnSpPr/>
          <p:nvPr/>
        </p:nvCxnSpPr>
        <p:spPr>
          <a:xfrm>
            <a:off x="8055864" y="2643074"/>
            <a:ext cx="320040" cy="0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  <p:sp>
        <p:nvSpPr>
          <p:cNvPr id="110" name="内容 110"/>
          <p:cNvSpPr/>
          <p:nvPr/>
        </p:nvSpPr>
        <p:spPr>
          <a:xfrm>
            <a:off x="8421624" y="2200047"/>
            <a:ext cx="2359152" cy="893826"/>
          </a:xfrm>
          <a:prstGeom prst="rect">
            <a:avLst/>
          </a:prstGeom>
          <a:solidFill>
            <a:schemeClr val="lt1"/>
          </a:solidFill>
          <a:ln w="12700"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进度与对账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进度、对账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失败重试与补迁</a:t>
            </a:r>
          </a:p>
        </p:txBody>
      </p:sp>
      <p:sp>
        <p:nvSpPr>
          <p:cNvPr id="111" name="内容 111"/>
          <p:cNvSpPr/>
          <p:nvPr/>
        </p:nvSpPr>
        <p:spPr>
          <a:xfrm>
            <a:off x="2898648" y="3660343"/>
            <a:ext cx="2359152" cy="893826"/>
          </a:xfrm>
          <a:prstGeom prst="rect">
            <a:avLst/>
          </a:prstGeom>
          <a:solidFill>
            <a:schemeClr val="lt1"/>
          </a:solidFill>
          <a:ln w="12700"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身份核验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核验原账号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与数据归属</a:t>
            </a:r>
          </a:p>
        </p:txBody>
      </p:sp>
      <p:cxnSp>
        <p:nvCxnSpPr>
          <p:cNvPr id="112" name="连接线 112"/>
          <p:cNvCxnSpPr/>
          <p:nvPr/>
        </p:nvCxnSpPr>
        <p:spPr>
          <a:xfrm>
            <a:off x="5294376" y="4103370"/>
            <a:ext cx="320040" cy="0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  <p:sp>
        <p:nvSpPr>
          <p:cNvPr id="113" name="内容 113"/>
          <p:cNvSpPr/>
          <p:nvPr/>
        </p:nvSpPr>
        <p:spPr>
          <a:xfrm>
            <a:off x="5660136" y="3660343"/>
            <a:ext cx="2359152" cy="893826"/>
          </a:xfrm>
          <a:prstGeom prst="rect">
            <a:avLst/>
          </a:prstGeom>
          <a:solidFill>
            <a:schemeClr val="lt1"/>
          </a:solidFill>
          <a:ln w="12700"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内容选择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选择允许迁移的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个人内容</a:t>
            </a:r>
          </a:p>
        </p:txBody>
      </p:sp>
      <p:cxnSp>
        <p:nvCxnSpPr>
          <p:cNvPr id="114" name="连接线 114"/>
          <p:cNvCxnSpPr/>
          <p:nvPr/>
        </p:nvCxnSpPr>
        <p:spPr>
          <a:xfrm>
            <a:off x="8055864" y="4103370"/>
            <a:ext cx="320040" cy="0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  <p:sp>
        <p:nvSpPr>
          <p:cNvPr id="115" name="内容 115"/>
          <p:cNvSpPr/>
          <p:nvPr/>
        </p:nvSpPr>
        <p:spPr>
          <a:xfrm>
            <a:off x="8421624" y="3660343"/>
            <a:ext cx="2359152" cy="893826"/>
          </a:xfrm>
          <a:prstGeom prst="rect">
            <a:avLst/>
          </a:prstGeom>
          <a:solidFill>
            <a:schemeClr val="lt1"/>
          </a:solidFill>
          <a:ln w="12700"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结果确认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查询结果、反馈异常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和确认完成</a:t>
            </a:r>
          </a:p>
        </p:txBody>
      </p:sp>
      <p:cxnSp>
        <p:nvCxnSpPr>
          <p:cNvPr id="121" name="连接线 121"/>
          <p:cNvCxnSpPr>
            <a:cxnSpLocks/>
          </p:cNvCxnSpPr>
          <p:nvPr/>
        </p:nvCxnSpPr>
        <p:spPr>
          <a:xfrm>
            <a:off x="6382512" y="4732934"/>
            <a:ext cx="0" cy="256489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  <p:sp>
        <p:nvSpPr>
          <p:cNvPr id="122" name="内容 122"/>
          <p:cNvSpPr/>
          <p:nvPr/>
        </p:nvSpPr>
        <p:spPr>
          <a:xfrm>
            <a:off x="731520" y="5074920"/>
            <a:ext cx="1920240" cy="567385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  <a:latin typeface="Arial"/>
                <a:ea typeface="Microsoft YaHei"/>
                <a:cs typeface="Arial"/>
              </a:rPr>
              <a:t>统一迁移服务</a:t>
            </a:r>
          </a:p>
        </p:txBody>
      </p:sp>
      <p:sp>
        <p:nvSpPr>
          <p:cNvPr id="123" name="内容 123"/>
          <p:cNvSpPr/>
          <p:nvPr/>
        </p:nvSpPr>
        <p:spPr>
          <a:xfrm>
            <a:off x="2651760" y="5074920"/>
            <a:ext cx="1764792" cy="567385"/>
          </a:xfrm>
          <a:prstGeom prst="rect">
            <a:avLst/>
          </a:prstGeom>
          <a:solidFill>
            <a:schemeClr val="accent2">
              <a:lumMod val="33000"/>
              <a:lumOff val="67000"/>
            </a:schemeClr>
          </a:solidFill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账号映射</a:t>
            </a:r>
          </a:p>
        </p:txBody>
      </p:sp>
      <p:sp>
        <p:nvSpPr>
          <p:cNvPr id="124" name="内容 124"/>
          <p:cNvSpPr/>
          <p:nvPr/>
        </p:nvSpPr>
        <p:spPr>
          <a:xfrm>
            <a:off x="4416552" y="5074920"/>
            <a:ext cx="1764792" cy="567385"/>
          </a:xfrm>
          <a:prstGeom prst="rect">
            <a:avLst/>
          </a:prstGeom>
          <a:solidFill>
            <a:schemeClr val="accent2">
              <a:lumMod val="33000"/>
              <a:lumOff val="67000"/>
            </a:schemeClr>
          </a:solidFill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任务台账</a:t>
            </a:r>
          </a:p>
        </p:txBody>
      </p:sp>
      <p:sp>
        <p:nvSpPr>
          <p:cNvPr id="125" name="内容 125"/>
          <p:cNvSpPr/>
          <p:nvPr/>
        </p:nvSpPr>
        <p:spPr>
          <a:xfrm>
            <a:off x="6181344" y="5074920"/>
            <a:ext cx="1764792" cy="567385"/>
          </a:xfrm>
          <a:prstGeom prst="rect">
            <a:avLst/>
          </a:prstGeom>
          <a:solidFill>
            <a:schemeClr val="accent2">
              <a:lumMod val="33000"/>
              <a:lumOff val="67000"/>
            </a:schemeClr>
          </a:solidFill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去重处理</a:t>
            </a:r>
          </a:p>
        </p:txBody>
      </p:sp>
      <p:sp>
        <p:nvSpPr>
          <p:cNvPr id="126" name="内容 126"/>
          <p:cNvSpPr/>
          <p:nvPr/>
        </p:nvSpPr>
        <p:spPr>
          <a:xfrm>
            <a:off x="7946136" y="5074920"/>
            <a:ext cx="1764792" cy="567385"/>
          </a:xfrm>
          <a:prstGeom prst="rect">
            <a:avLst/>
          </a:prstGeom>
          <a:solidFill>
            <a:schemeClr val="accent2">
              <a:lumMod val="33000"/>
              <a:lumOff val="67000"/>
            </a:schemeClr>
          </a:solidFill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结果校核</a:t>
            </a:r>
          </a:p>
        </p:txBody>
      </p:sp>
      <p:sp>
        <p:nvSpPr>
          <p:cNvPr id="127" name="内容 127"/>
          <p:cNvSpPr/>
          <p:nvPr/>
        </p:nvSpPr>
        <p:spPr>
          <a:xfrm>
            <a:off x="9710928" y="5074920"/>
            <a:ext cx="1764792" cy="567385"/>
          </a:xfrm>
          <a:prstGeom prst="rect">
            <a:avLst/>
          </a:prstGeom>
          <a:solidFill>
            <a:schemeClr val="accent2">
              <a:lumMod val="33000"/>
              <a:lumOff val="67000"/>
            </a:schemeClr>
          </a:solidFill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异常处理</a:t>
            </a:r>
          </a:p>
        </p:txBody>
      </p:sp>
      <p:sp>
        <p:nvSpPr>
          <p:cNvPr id="128" name="内容 128"/>
          <p:cNvSpPr txBox="1"/>
          <p:nvPr/>
        </p:nvSpPr>
        <p:spPr>
          <a:xfrm>
            <a:off x="731520" y="6080760"/>
            <a:ext cx="1078992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个人授权仍受源端权限限制。后台已迁与用户补迁的数据应避免重复导入或相互覆盖。</a:t>
            </a:r>
          </a:p>
        </p:txBody>
      </p:sp>
      <p:cxnSp>
        <p:nvCxnSpPr>
          <p:cNvPr id="4" name="连接线 121">
            <a:extLst>
              <a:ext uri="{FF2B5EF4-FFF2-40B4-BE49-F238E27FC236}">
                <a16:creationId xmlns:a16="http://schemas.microsoft.com/office/drawing/2014/main" id="{35BE0A4C-11B0-304A-D166-DC0BBF418C7E}"/>
              </a:ext>
            </a:extLst>
          </p:cNvPr>
          <p:cNvCxnSpPr>
            <a:cxnSpLocks/>
          </p:cNvCxnSpPr>
          <p:nvPr/>
        </p:nvCxnSpPr>
        <p:spPr>
          <a:xfrm>
            <a:off x="6382512" y="3268065"/>
            <a:ext cx="0" cy="256489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3CC4B25-1C78-2329-8412-EBB6E37A8EB3}"/>
              </a:ext>
            </a:extLst>
          </p:cNvPr>
          <p:cNvSpPr/>
          <p:nvPr/>
        </p:nvSpPr>
        <p:spPr bwMode="auto">
          <a:xfrm>
            <a:off x="546009" y="1868271"/>
            <a:ext cx="11203043" cy="4212489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 w="12700">
            <a:gradFill flip="none" rotWithShape="1">
              <a:gsLst>
                <a:gs pos="0">
                  <a:schemeClr val="accent1"/>
                </a:gs>
                <a:gs pos="73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txBody>
          <a:bodyPr wrap="square" lIns="72000" tIns="72000" rIns="72000" bIns="72000" rtlCol="0" anchor="ctr">
            <a:noAutofit/>
          </a:bodyPr>
          <a:lstStyle/>
          <a:p>
            <a:pPr marL="0" marR="0" indent="0" algn="l" defTabSz="9137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icrosoft YaHei"/>
              <a:ea typeface="Microsoft YaHei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标题 2"/>
          <p:cNvSpPr txBox="1">
            <a:spLocks noGrp="1"/>
          </p:cNvSpPr>
          <p:nvPr>
            <p:ph type="title"/>
          </p:nvPr>
        </p:nvSpPr>
        <p:spPr>
          <a:xfrm>
            <a:off x="728346" y="182880"/>
            <a:ext cx="9713364" cy="4583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五、</a:t>
            </a:r>
            <a:r>
              <a:rPr lang="zh-CN" altLang="zh-CN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账号关联与</a:t>
            </a:r>
            <a:r>
              <a:rPr lang="zh-CN" altLang="en-US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用户迁移 </a:t>
            </a:r>
            <a:r>
              <a:rPr lang="en-US" altLang="zh-CN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- </a:t>
            </a:r>
            <a:r>
              <a:rPr lang="zh-CN" sz="24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用户自助迁移流程</a:t>
            </a:r>
          </a:p>
        </p:txBody>
      </p:sp>
      <p:sp>
        <p:nvSpPr>
          <p:cNvPr id="101" name="内容 101"/>
          <p:cNvSpPr txBox="1"/>
          <p:nvPr/>
        </p:nvSpPr>
        <p:spPr>
          <a:xfrm>
            <a:off x="731520" y="969264"/>
            <a:ext cx="10789920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用户先核对原账号和数据归属，再查看获授权范围并选择需要迁移的内容，由后台统一受理和执行。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前台展示迁移进度与异常结果，支持问题反馈和补迁后确认；本人确认仍需纳入整体迁移校核。</a:t>
            </a:r>
          </a:p>
        </p:txBody>
      </p:sp>
      <p:sp>
        <p:nvSpPr>
          <p:cNvPr id="113" name="内容 113"/>
          <p:cNvSpPr txBox="1"/>
          <p:nvPr/>
        </p:nvSpPr>
        <p:spPr>
          <a:xfrm>
            <a:off x="731520" y="6080760"/>
            <a:ext cx="1078992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允许补交的文件经过格式、安全及归属检查，不自动认定为可信的原审批轨迹或原生聊天记录。</a:t>
            </a:r>
          </a:p>
        </p:txBody>
      </p:sp>
      <p:pic>
        <p:nvPicPr>
          <p:cNvPr id="1001" name="二维概念素材 selfservice-flat" descr="AI生成二维概念素材，非产品截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2560320" cy="2560320"/>
          </a:xfrm>
          <a:prstGeom prst="rect">
            <a:avLst/>
          </a:prstGeom>
        </p:spPr>
      </p:pic>
      <p:sp>
        <p:nvSpPr>
          <p:cNvPr id="1002" name="内容 1002"/>
          <p:cNvSpPr txBox="1"/>
          <p:nvPr/>
        </p:nvSpPr>
        <p:spPr>
          <a:xfrm>
            <a:off x="777240" y="5266944"/>
            <a:ext cx="256032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用户自助入口</a:t>
            </a:r>
          </a:p>
        </p:txBody>
      </p:sp>
      <p:sp>
        <p:nvSpPr>
          <p:cNvPr id="102" name="内容 102"/>
          <p:cNvSpPr/>
          <p:nvPr/>
        </p:nvSpPr>
        <p:spPr>
          <a:xfrm>
            <a:off x="3703320" y="2331720"/>
            <a:ext cx="362102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wrap="square" lIns="118872" tIns="45720" rIns="118872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1. 身份核验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核对手机号、原账号及组织</a:t>
            </a:r>
          </a:p>
        </p:txBody>
      </p:sp>
      <p:sp>
        <p:nvSpPr>
          <p:cNvPr id="104" name="内容 104"/>
          <p:cNvSpPr/>
          <p:nvPr/>
        </p:nvSpPr>
        <p:spPr>
          <a:xfrm>
            <a:off x="7818120" y="2331720"/>
            <a:ext cx="362102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wrap="square" lIns="118872" tIns="45720" rIns="118872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2. 查看与选择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查看获授权的数据和范围</a:t>
            </a:r>
          </a:p>
        </p:txBody>
      </p:sp>
      <p:sp>
        <p:nvSpPr>
          <p:cNvPr id="106" name="内容 106"/>
          <p:cNvSpPr/>
          <p:nvPr/>
        </p:nvSpPr>
        <p:spPr>
          <a:xfrm>
            <a:off x="7818120" y="3566160"/>
            <a:ext cx="362102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wrap="square" lIns="118872" tIns="45720" rIns="118872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3. 发起迁移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后台受理并统一执行</a:t>
            </a:r>
          </a:p>
        </p:txBody>
      </p:sp>
      <p:sp>
        <p:nvSpPr>
          <p:cNvPr id="107" name="内容 107"/>
          <p:cNvSpPr/>
          <p:nvPr/>
        </p:nvSpPr>
        <p:spPr>
          <a:xfrm>
            <a:off x="3703320" y="3566160"/>
            <a:ext cx="362102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wrap="square" lIns="118872" tIns="45720" rIns="118872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4. 查询结果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展示进度、成功及异常</a:t>
            </a:r>
          </a:p>
        </p:txBody>
      </p:sp>
      <p:sp>
        <p:nvSpPr>
          <p:cNvPr id="109" name="内容 109"/>
          <p:cNvSpPr/>
          <p:nvPr/>
        </p:nvSpPr>
        <p:spPr>
          <a:xfrm>
            <a:off x="3703320" y="4800600"/>
            <a:ext cx="362102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wrap="square" lIns="118872" tIns="45720" rIns="118872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5. 反馈补迁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提交问题并查询处理结果</a:t>
            </a:r>
          </a:p>
        </p:txBody>
      </p:sp>
      <p:sp>
        <p:nvSpPr>
          <p:cNvPr id="111" name="内容 111"/>
          <p:cNvSpPr/>
          <p:nvPr/>
        </p:nvSpPr>
        <p:spPr>
          <a:xfrm>
            <a:off x="7818120" y="4800600"/>
            <a:ext cx="362102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wrap="square" lIns="118872" tIns="45720" rIns="118872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6. 确认完成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本人确认，整体仍需校核</a:t>
            </a:r>
          </a:p>
        </p:txBody>
      </p:sp>
      <p:cxnSp>
        <p:nvCxnSpPr>
          <p:cNvPr id="1003" name="连接线 1003"/>
          <p:cNvCxnSpPr/>
          <p:nvPr/>
        </p:nvCxnSpPr>
        <p:spPr>
          <a:xfrm>
            <a:off x="7388352" y="2788920"/>
            <a:ext cx="338328" cy="0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  <p:cxnSp>
        <p:nvCxnSpPr>
          <p:cNvPr id="1004" name="连接线 1004"/>
          <p:cNvCxnSpPr/>
          <p:nvPr/>
        </p:nvCxnSpPr>
        <p:spPr>
          <a:xfrm>
            <a:off x="9628632" y="3295104"/>
            <a:ext cx="0" cy="228600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  <p:cxnSp>
        <p:nvCxnSpPr>
          <p:cNvPr id="1005" name="连接线 1005"/>
          <p:cNvCxnSpPr/>
          <p:nvPr/>
        </p:nvCxnSpPr>
        <p:spPr>
          <a:xfrm flipH="1">
            <a:off x="7415784" y="4023360"/>
            <a:ext cx="310896" cy="0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  <p:cxnSp>
        <p:nvCxnSpPr>
          <p:cNvPr id="1006" name="连接线 1006"/>
          <p:cNvCxnSpPr/>
          <p:nvPr/>
        </p:nvCxnSpPr>
        <p:spPr>
          <a:xfrm>
            <a:off x="5513832" y="4529544"/>
            <a:ext cx="0" cy="228600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  <p:cxnSp>
        <p:nvCxnSpPr>
          <p:cNvPr id="1007" name="连接线 1007"/>
          <p:cNvCxnSpPr/>
          <p:nvPr/>
        </p:nvCxnSpPr>
        <p:spPr>
          <a:xfrm>
            <a:off x="7388352" y="5257800"/>
            <a:ext cx="338328" cy="0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>
            <a:spLocks noGrp="1"/>
          </p:cNvSpPr>
          <p:nvPr>
            <p:ph type="title"/>
          </p:nvPr>
        </p:nvSpPr>
        <p:spPr>
          <a:xfrm>
            <a:off x="728346" y="182880"/>
            <a:ext cx="9713364" cy="4583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六、</a:t>
            </a:r>
            <a:r>
              <a:rPr lang="zh-CN" sz="24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分阶段迁移与切换安排</a:t>
            </a:r>
          </a:p>
        </p:txBody>
      </p:sp>
      <p:sp>
        <p:nvSpPr>
          <p:cNvPr id="101" name="内容 101"/>
          <p:cNvSpPr txBox="1"/>
          <p:nvPr/>
        </p:nvSpPr>
        <p:spPr>
          <a:xfrm>
            <a:off x="731520" y="969264"/>
            <a:ext cx="10789920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迁移按样本验证、演练、分批全量、增量并行、正式切换和稳定退出逐步推进，前一阶段结果支撑后续安排。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切换前核实数据、权限与业务条件；条件不满足时补迁复核，切换后需回退时保留新增数据并按预案恢复业务。</a:t>
            </a:r>
          </a:p>
        </p:txBody>
      </p:sp>
      <p:cxnSp>
        <p:nvCxnSpPr>
          <p:cNvPr id="102" name="连接线 102"/>
          <p:cNvCxnSpPr>
            <a:cxnSpLocks/>
          </p:cNvCxnSpPr>
          <p:nvPr/>
        </p:nvCxnSpPr>
        <p:spPr>
          <a:xfrm>
            <a:off x="1536192" y="2688336"/>
            <a:ext cx="1316736" cy="0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  <p:sp>
        <p:nvSpPr>
          <p:cNvPr id="103" name="内容 103"/>
          <p:cNvSpPr/>
          <p:nvPr/>
        </p:nvSpPr>
        <p:spPr>
          <a:xfrm>
            <a:off x="1042416" y="2432304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>
                <a:solidFill>
                  <a:schemeClr val="lt1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4" name="内容 104"/>
          <p:cNvSpPr txBox="1"/>
          <p:nvPr/>
        </p:nvSpPr>
        <p:spPr>
          <a:xfrm>
            <a:off x="481540" y="3054096"/>
            <a:ext cx="164592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样本验证</a:t>
            </a:r>
          </a:p>
        </p:txBody>
      </p:sp>
      <p:sp>
        <p:nvSpPr>
          <p:cNvPr id="105" name="内容 105"/>
          <p:cNvSpPr txBox="1"/>
          <p:nvPr/>
        </p:nvSpPr>
        <p:spPr>
          <a:xfrm>
            <a:off x="481540" y="3442716"/>
            <a:ext cx="1645920" cy="520751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源端范围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目标效果</a:t>
            </a:r>
          </a:p>
        </p:txBody>
      </p:sp>
      <p:cxnSp>
        <p:nvCxnSpPr>
          <p:cNvPr id="106" name="连接线 106"/>
          <p:cNvCxnSpPr>
            <a:cxnSpLocks/>
          </p:cNvCxnSpPr>
          <p:nvPr/>
        </p:nvCxnSpPr>
        <p:spPr>
          <a:xfrm>
            <a:off x="3364992" y="2688336"/>
            <a:ext cx="1316736" cy="0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  <p:sp>
        <p:nvSpPr>
          <p:cNvPr id="107" name="内容 107"/>
          <p:cNvSpPr/>
          <p:nvPr/>
        </p:nvSpPr>
        <p:spPr>
          <a:xfrm>
            <a:off x="2871216" y="2432304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>
                <a:solidFill>
                  <a:schemeClr val="lt1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8" name="内容 108"/>
          <p:cNvSpPr txBox="1"/>
          <p:nvPr/>
        </p:nvSpPr>
        <p:spPr>
          <a:xfrm>
            <a:off x="2312971" y="3054096"/>
            <a:ext cx="164592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迁移演练</a:t>
            </a:r>
          </a:p>
        </p:txBody>
      </p:sp>
      <p:sp>
        <p:nvSpPr>
          <p:cNvPr id="109" name="内容 109"/>
          <p:cNvSpPr txBox="1"/>
          <p:nvPr/>
        </p:nvSpPr>
        <p:spPr>
          <a:xfrm>
            <a:off x="2312971" y="3442716"/>
            <a:ext cx="1645920" cy="520751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适配、重试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校核与回退</a:t>
            </a:r>
          </a:p>
        </p:txBody>
      </p:sp>
      <p:cxnSp>
        <p:nvCxnSpPr>
          <p:cNvPr id="110" name="连接线 110"/>
          <p:cNvCxnSpPr>
            <a:cxnSpLocks/>
          </p:cNvCxnSpPr>
          <p:nvPr/>
        </p:nvCxnSpPr>
        <p:spPr>
          <a:xfrm>
            <a:off x="5193792" y="2688336"/>
            <a:ext cx="1316736" cy="0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  <p:sp>
        <p:nvSpPr>
          <p:cNvPr id="111" name="内容 111"/>
          <p:cNvSpPr/>
          <p:nvPr/>
        </p:nvSpPr>
        <p:spPr>
          <a:xfrm>
            <a:off x="4700016" y="2432304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>
                <a:solidFill>
                  <a:schemeClr val="lt1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12" name="内容 112"/>
          <p:cNvSpPr txBox="1"/>
          <p:nvPr/>
        </p:nvSpPr>
        <p:spPr>
          <a:xfrm>
            <a:off x="4144402" y="3054096"/>
            <a:ext cx="164592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分批全量</a:t>
            </a:r>
          </a:p>
        </p:txBody>
      </p:sp>
      <p:sp>
        <p:nvSpPr>
          <p:cNvPr id="113" name="内容 113"/>
          <p:cNvSpPr txBox="1"/>
          <p:nvPr/>
        </p:nvSpPr>
        <p:spPr>
          <a:xfrm>
            <a:off x="4144402" y="3442716"/>
            <a:ext cx="1645920" cy="520751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稳定历史优先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批次对账</a:t>
            </a:r>
          </a:p>
        </p:txBody>
      </p:sp>
      <p:cxnSp>
        <p:nvCxnSpPr>
          <p:cNvPr id="114" name="连接线 114"/>
          <p:cNvCxnSpPr>
            <a:cxnSpLocks/>
          </p:cNvCxnSpPr>
          <p:nvPr/>
        </p:nvCxnSpPr>
        <p:spPr>
          <a:xfrm>
            <a:off x="7022592" y="2688336"/>
            <a:ext cx="1316736" cy="0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  <p:sp>
        <p:nvSpPr>
          <p:cNvPr id="115" name="内容 115"/>
          <p:cNvSpPr/>
          <p:nvPr/>
        </p:nvSpPr>
        <p:spPr>
          <a:xfrm>
            <a:off x="6528816" y="2432304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>
                <a:solidFill>
                  <a:schemeClr val="lt1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6" name="内容 116"/>
          <p:cNvSpPr txBox="1"/>
          <p:nvPr/>
        </p:nvSpPr>
        <p:spPr>
          <a:xfrm>
            <a:off x="5975833" y="3054096"/>
            <a:ext cx="164592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增量与并行</a:t>
            </a:r>
          </a:p>
        </p:txBody>
      </p:sp>
      <p:sp>
        <p:nvSpPr>
          <p:cNvPr id="117" name="内容 117"/>
          <p:cNvSpPr txBox="1"/>
          <p:nvPr/>
        </p:nvSpPr>
        <p:spPr>
          <a:xfrm>
            <a:off x="5975833" y="3442716"/>
            <a:ext cx="1645920" cy="520751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补齐变化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明确办理入口</a:t>
            </a:r>
          </a:p>
        </p:txBody>
      </p:sp>
      <p:cxnSp>
        <p:nvCxnSpPr>
          <p:cNvPr id="118" name="连接线 118"/>
          <p:cNvCxnSpPr>
            <a:cxnSpLocks/>
          </p:cNvCxnSpPr>
          <p:nvPr/>
        </p:nvCxnSpPr>
        <p:spPr>
          <a:xfrm>
            <a:off x="8851392" y="2688336"/>
            <a:ext cx="1316736" cy="0"/>
          </a:xfrm>
          <a:prstGeom prst="line">
            <a:avLst/>
          </a:prstGeom>
          <a:ln w="19050">
            <a:solidFill>
              <a:schemeClr val="accent4"/>
            </a:solidFill>
            <a:tailEnd type="arrow" w="med" len="med"/>
          </a:ln>
        </p:spPr>
      </p:cxnSp>
      <p:sp>
        <p:nvSpPr>
          <p:cNvPr id="119" name="内容 119"/>
          <p:cNvSpPr/>
          <p:nvPr/>
        </p:nvSpPr>
        <p:spPr>
          <a:xfrm>
            <a:off x="8357616" y="2432304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>
                <a:solidFill>
                  <a:schemeClr val="lt1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20" name="内容 120"/>
          <p:cNvSpPr txBox="1"/>
          <p:nvPr/>
        </p:nvSpPr>
        <p:spPr>
          <a:xfrm>
            <a:off x="7807264" y="3054096"/>
            <a:ext cx="164592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正式切换</a:t>
            </a:r>
          </a:p>
        </p:txBody>
      </p:sp>
      <p:sp>
        <p:nvSpPr>
          <p:cNvPr id="121" name="内容 121"/>
          <p:cNvSpPr txBox="1"/>
          <p:nvPr/>
        </p:nvSpPr>
        <p:spPr>
          <a:xfrm>
            <a:off x="7807264" y="3442716"/>
            <a:ext cx="1645920" cy="520751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关键检查通过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按窗口切换</a:t>
            </a:r>
          </a:p>
        </p:txBody>
      </p:sp>
      <p:sp>
        <p:nvSpPr>
          <p:cNvPr id="122" name="内容 122"/>
          <p:cNvSpPr txBox="1"/>
          <p:nvPr/>
        </p:nvSpPr>
        <p:spPr>
          <a:xfrm>
            <a:off x="7781544" y="2137868"/>
            <a:ext cx="1664208" cy="23317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满足条件后切换</a:t>
            </a:r>
          </a:p>
        </p:txBody>
      </p:sp>
      <p:sp>
        <p:nvSpPr>
          <p:cNvPr id="123" name="内容 123"/>
          <p:cNvSpPr/>
          <p:nvPr/>
        </p:nvSpPr>
        <p:spPr>
          <a:xfrm>
            <a:off x="10186416" y="2432304"/>
            <a:ext cx="512064" cy="512064"/>
          </a:xfrm>
          <a:prstGeom prst="ellipse">
            <a:avLst/>
          </a:prstGeom>
          <a:solidFill>
            <a:schemeClr val="accent4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>
                <a:solidFill>
                  <a:schemeClr val="lt1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24" name="内容 124"/>
          <p:cNvSpPr txBox="1"/>
          <p:nvPr/>
        </p:nvSpPr>
        <p:spPr>
          <a:xfrm>
            <a:off x="9638696" y="3054096"/>
            <a:ext cx="164592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稳定与退出</a:t>
            </a:r>
          </a:p>
        </p:txBody>
      </p:sp>
      <p:sp>
        <p:nvSpPr>
          <p:cNvPr id="125" name="内容 125"/>
          <p:cNvSpPr txBox="1"/>
          <p:nvPr/>
        </p:nvSpPr>
        <p:spPr>
          <a:xfrm>
            <a:off x="9638696" y="3442716"/>
            <a:ext cx="1645920" cy="520751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处理反馈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验收和交接</a:t>
            </a:r>
          </a:p>
        </p:txBody>
      </p:sp>
      <p:sp>
        <p:nvSpPr>
          <p:cNvPr id="126" name="内容 126"/>
          <p:cNvSpPr/>
          <p:nvPr/>
        </p:nvSpPr>
        <p:spPr>
          <a:xfrm>
            <a:off x="731520" y="4313224"/>
            <a:ext cx="5175504" cy="12323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 lIns="201168" tIns="45720" rIns="201168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切换前：条件核验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切换条件未满足：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处理问题、补迁并重新校核</a:t>
            </a:r>
          </a:p>
        </p:txBody>
      </p:sp>
      <p:sp>
        <p:nvSpPr>
          <p:cNvPr id="127" name="内容 127"/>
          <p:cNvSpPr/>
          <p:nvPr/>
        </p:nvSpPr>
        <p:spPr>
          <a:xfrm>
            <a:off x="6272784" y="4313224"/>
            <a:ext cx="5175504" cy="1232381"/>
          </a:xfrm>
          <a:prstGeom prst="rect">
            <a:avLst/>
          </a:prstGeom>
          <a:solidFill>
            <a:schemeClr val="accent3">
              <a:lumMod val="38000"/>
              <a:lumOff val="62000"/>
            </a:schemeClr>
          </a:solidFill>
          <a:ln w="12700">
            <a:noFill/>
          </a:ln>
        </p:spPr>
        <p:txBody>
          <a:bodyPr wrap="square" lIns="201168" tIns="45720" rIns="201168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切换后：回退保障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切换后需回退：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保存新增数据，按预案恢复业务</a:t>
            </a:r>
          </a:p>
        </p:txBody>
      </p:sp>
      <p:sp>
        <p:nvSpPr>
          <p:cNvPr id="128" name="内容 128"/>
          <p:cNvSpPr txBox="1"/>
          <p:nvPr/>
        </p:nvSpPr>
        <p:spPr>
          <a:xfrm>
            <a:off x="731520" y="5895362"/>
            <a:ext cx="1078992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工期与批次依据实际数据量、网络和接口配额、试迁效率确定。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>
            <a:spLocks noGrp="1"/>
          </p:cNvSpPr>
          <p:nvPr>
            <p:ph type="title"/>
          </p:nvPr>
        </p:nvSpPr>
        <p:spPr>
          <a:xfrm>
            <a:off x="728346" y="182880"/>
            <a:ext cx="9713364" cy="4583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六、</a:t>
            </a:r>
            <a:r>
              <a:rPr lang="zh-CN" altLang="zh-CN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分阶段迁移与切换安排</a:t>
            </a:r>
            <a:r>
              <a:rPr lang="en-US" altLang="zh-CN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 - </a:t>
            </a:r>
            <a:r>
              <a:rPr lang="zh-CN" sz="24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增量、并行、回退及退出</a:t>
            </a:r>
          </a:p>
        </p:txBody>
      </p:sp>
      <p:sp>
        <p:nvSpPr>
          <p:cNvPr id="101" name="内容 101"/>
          <p:cNvSpPr txBox="1"/>
          <p:nvPr/>
        </p:nvSpPr>
        <p:spPr>
          <a:xfrm>
            <a:off x="731520" y="969264"/>
            <a:ext cx="10789920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新旧平台并行期间，应按业务明确办理入口和切换时点，分别处理增量变化、在办事项及已切换业务。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回退需保护新增数据和执行记录；完成历史保留、业务确认、反馈处理及运维交接后，才能安排旧平台退出。</a:t>
            </a:r>
          </a:p>
        </p:txBody>
      </p:sp>
      <p:sp>
        <p:nvSpPr>
          <p:cNvPr id="102" name="内容 102"/>
          <p:cNvSpPr/>
          <p:nvPr/>
        </p:nvSpPr>
        <p:spPr>
          <a:xfrm>
            <a:off x="731520" y="2231136"/>
            <a:ext cx="4169664" cy="1938528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>
            <a:noFill/>
          </a:ln>
        </p:spPr>
        <p:txBody>
          <a:bodyPr wrap="square" lIns="1399032" tIns="45720" rIns="118872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旧平台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原平台完成明确的在办事项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保留必要的历史查阅能力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按实际变化补齐增量数据</a:t>
            </a:r>
          </a:p>
        </p:txBody>
      </p:sp>
      <p:sp>
        <p:nvSpPr>
          <p:cNvPr id="103" name="内容 103"/>
          <p:cNvSpPr/>
          <p:nvPr/>
        </p:nvSpPr>
        <p:spPr>
          <a:xfrm>
            <a:off x="7296912" y="2231136"/>
            <a:ext cx="4169664" cy="1938528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12700">
            <a:noFill/>
          </a:ln>
        </p:spPr>
        <p:txBody>
          <a:bodyPr wrap="square" lIns="1399032" tIns="45720" rIns="118872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4"/>
                </a:solidFill>
                <a:latin typeface="Arial"/>
                <a:ea typeface="Microsoft YaHei"/>
                <a:cs typeface="Arial"/>
              </a:rPr>
              <a:t>新平台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新平台承接已切换业务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明确办理入口与切换时点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保留执行记录及新增数据</a:t>
            </a:r>
          </a:p>
        </p:txBody>
      </p:sp>
      <p:cxnSp>
        <p:nvCxnSpPr>
          <p:cNvPr id="104" name="连接线 104"/>
          <p:cNvCxnSpPr/>
          <p:nvPr/>
        </p:nvCxnSpPr>
        <p:spPr>
          <a:xfrm>
            <a:off x="4937760" y="2807208"/>
            <a:ext cx="2286000" cy="0"/>
          </a:xfrm>
          <a:prstGeom prst="line">
            <a:avLst/>
          </a:prstGeom>
          <a:ln w="19050">
            <a:solidFill>
              <a:schemeClr val="accent1"/>
            </a:solidFill>
            <a:tailEnd type="arrow" w="med" len="med"/>
          </a:ln>
        </p:spPr>
      </p:cxnSp>
      <p:sp>
        <p:nvSpPr>
          <p:cNvPr id="105" name="内容 105"/>
          <p:cNvSpPr txBox="1"/>
          <p:nvPr/>
        </p:nvSpPr>
        <p:spPr>
          <a:xfrm>
            <a:off x="4983480" y="2267712"/>
            <a:ext cx="2212848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增量补齐</a:t>
            </a:r>
          </a:p>
        </p:txBody>
      </p:sp>
      <p:cxnSp>
        <p:nvCxnSpPr>
          <p:cNvPr id="106" name="连接线 106"/>
          <p:cNvCxnSpPr/>
          <p:nvPr/>
        </p:nvCxnSpPr>
        <p:spPr>
          <a:xfrm flipH="1">
            <a:off x="4937760" y="3657600"/>
            <a:ext cx="2286000" cy="0"/>
          </a:xfrm>
          <a:prstGeom prst="line">
            <a:avLst/>
          </a:prstGeom>
          <a:ln w="19050">
            <a:solidFill>
              <a:schemeClr val="accent1"/>
            </a:solidFill>
            <a:prstDash val="lgDash"/>
            <a:tailEnd type="arrow" w="med" len="med"/>
          </a:ln>
        </p:spPr>
      </p:cxnSp>
      <p:sp>
        <p:nvSpPr>
          <p:cNvPr id="107" name="内容 107"/>
          <p:cNvSpPr txBox="1"/>
          <p:nvPr/>
        </p:nvSpPr>
        <p:spPr>
          <a:xfrm>
            <a:off x="4983480" y="3730752"/>
            <a:ext cx="2212848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必要时按预案回退</a:t>
            </a:r>
          </a:p>
        </p:txBody>
      </p:sp>
      <p:sp>
        <p:nvSpPr>
          <p:cNvPr id="108" name="内容 108"/>
          <p:cNvSpPr/>
          <p:nvPr/>
        </p:nvSpPr>
        <p:spPr>
          <a:xfrm>
            <a:off x="731520" y="4590288"/>
            <a:ext cx="5184648" cy="1060704"/>
          </a:xfrm>
          <a:prstGeom prst="rect">
            <a:avLst/>
          </a:prstGeom>
          <a:solidFill>
            <a:schemeClr val="accent2">
              <a:lumMod val="14000"/>
              <a:lumOff val="86000"/>
            </a:schemeClr>
          </a:solidFill>
          <a:ln w="12700">
            <a:noFill/>
          </a:ln>
        </p:spPr>
        <p:txBody>
          <a:bodyPr wrap="square" lIns="118872" tIns="45720" rIns="118872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并行期间的控制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防止漏迁修改、恢复已删除或撤销内容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防止重复审批、重复写入及状态冲突</a:t>
            </a:r>
          </a:p>
        </p:txBody>
      </p:sp>
      <p:sp>
        <p:nvSpPr>
          <p:cNvPr id="109" name="内容 109"/>
          <p:cNvSpPr/>
          <p:nvPr/>
        </p:nvSpPr>
        <p:spPr>
          <a:xfrm>
            <a:off x="6291072" y="4590288"/>
            <a:ext cx="5184648" cy="1060704"/>
          </a:xfrm>
          <a:prstGeom prst="rect">
            <a:avLst/>
          </a:prstGeom>
          <a:solidFill>
            <a:schemeClr val="accent4">
              <a:lumMod val="12000"/>
              <a:lumOff val="88000"/>
            </a:schemeClr>
          </a:solidFill>
          <a:ln w="12700">
            <a:noFill/>
          </a:ln>
        </p:spPr>
        <p:txBody>
          <a:bodyPr wrap="square" lIns="118872" tIns="45720" rIns="118872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旧平台退出条件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数据保留、业务确认、反馈处理及运维交接完成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不在历史查阅或在办业务仍依赖旧平台时退出</a:t>
            </a:r>
          </a:p>
        </p:txBody>
      </p:sp>
      <p:sp>
        <p:nvSpPr>
          <p:cNvPr id="110" name="内容 110"/>
          <p:cNvSpPr txBox="1"/>
          <p:nvPr/>
        </p:nvSpPr>
        <p:spPr>
          <a:xfrm>
            <a:off x="731520" y="6080760"/>
            <a:ext cx="10789920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过渡服务期限与切换安排共同管理。关键数据、权限或业务未通过验证，不以计划日期代替确认。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3C9346B-CBEE-0AFB-DB5C-8C3066FFBE80}"/>
              </a:ext>
            </a:extLst>
          </p:cNvPr>
          <p:cNvGrpSpPr/>
          <p:nvPr/>
        </p:nvGrpSpPr>
        <p:grpSpPr>
          <a:xfrm>
            <a:off x="914400" y="2743200"/>
            <a:ext cx="1024128" cy="786384"/>
            <a:chOff x="914400" y="2743200"/>
            <a:chExt cx="1024128" cy="786384"/>
          </a:xfrm>
        </p:grpSpPr>
        <p:sp>
          <p:nvSpPr>
            <p:cNvPr id="2001" name="原生平台图标 2001"/>
            <p:cNvSpPr/>
            <p:nvPr/>
          </p:nvSpPr>
          <p:spPr>
            <a:xfrm>
              <a:off x="1334292" y="3332988"/>
              <a:ext cx="184343" cy="141549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002" name="原生平台图标 2002"/>
            <p:cNvSpPr/>
            <p:nvPr/>
          </p:nvSpPr>
          <p:spPr>
            <a:xfrm>
              <a:off x="1139708" y="3466673"/>
              <a:ext cx="573512" cy="62911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003" name="原生平台图标 2003"/>
            <p:cNvSpPr/>
            <p:nvPr/>
          </p:nvSpPr>
          <p:spPr>
            <a:xfrm>
              <a:off x="914400" y="2743200"/>
              <a:ext cx="1024128" cy="613380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004" name="原生平台图标 2004"/>
            <p:cNvSpPr/>
            <p:nvPr/>
          </p:nvSpPr>
          <p:spPr>
            <a:xfrm>
              <a:off x="975848" y="2798247"/>
              <a:ext cx="901233" cy="495422"/>
            </a:xfrm>
            <a:prstGeom prst="rect">
              <a:avLst/>
            </a:prstGeom>
            <a:solidFill>
              <a:schemeClr val="lt1"/>
            </a:solidFill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005" name="原生平台图标 2005"/>
            <p:cNvSpPr/>
            <p:nvPr/>
          </p:nvSpPr>
          <p:spPr>
            <a:xfrm>
              <a:off x="1068019" y="2947660"/>
              <a:ext cx="204826" cy="180868"/>
            </a:xfrm>
            <a:prstGeom prst="rect">
              <a:avLst/>
            </a:prstGeom>
            <a:solidFill>
              <a:schemeClr val="accent2"/>
            </a:solidFill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006" name="原生平台图标 2006"/>
            <p:cNvSpPr/>
            <p:nvPr/>
          </p:nvSpPr>
          <p:spPr>
            <a:xfrm>
              <a:off x="1324051" y="2947660"/>
              <a:ext cx="204826" cy="180868"/>
            </a:xfrm>
            <a:prstGeom prst="rect">
              <a:avLst/>
            </a:prstGeom>
            <a:solidFill>
              <a:schemeClr val="accent2"/>
            </a:solidFill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007" name="原生平台图标 2007"/>
            <p:cNvSpPr/>
            <p:nvPr/>
          </p:nvSpPr>
          <p:spPr>
            <a:xfrm>
              <a:off x="1580083" y="2947660"/>
              <a:ext cx="204826" cy="180868"/>
            </a:xfrm>
            <a:prstGeom prst="rect">
              <a:avLst/>
            </a:prstGeom>
            <a:solidFill>
              <a:schemeClr val="accent2"/>
            </a:solidFill>
            <a:ln w="12700">
              <a:noFill/>
            </a:ln>
          </p:spPr>
          <p:txBody>
            <a:bodyPr wrap="square" lIns="0" tIns="45720" rIns="0" bIns="4572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sz="1400" b="0">
                <a:solidFill>
                  <a:schemeClr val="dk2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2008" name="原生平台图标 2008"/>
          <p:cNvSpPr/>
          <p:nvPr/>
        </p:nvSpPr>
        <p:spPr>
          <a:xfrm>
            <a:off x="7899684" y="3332988"/>
            <a:ext cx="184343" cy="141549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009" name="原生平台图标 2009"/>
          <p:cNvSpPr/>
          <p:nvPr/>
        </p:nvSpPr>
        <p:spPr>
          <a:xfrm>
            <a:off x="7705100" y="3466673"/>
            <a:ext cx="573512" cy="62911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010" name="原生平台图标 2010"/>
          <p:cNvSpPr/>
          <p:nvPr/>
        </p:nvSpPr>
        <p:spPr>
          <a:xfrm>
            <a:off x="7479792" y="2743200"/>
            <a:ext cx="1024128" cy="613380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011" name="原生平台图标 2011"/>
          <p:cNvSpPr/>
          <p:nvPr/>
        </p:nvSpPr>
        <p:spPr>
          <a:xfrm>
            <a:off x="7541240" y="2798247"/>
            <a:ext cx="901233" cy="495422"/>
          </a:xfrm>
          <a:prstGeom prst="rect">
            <a:avLst/>
          </a:prstGeom>
          <a:solidFill>
            <a:schemeClr val="lt1"/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012" name="原生平台图标 2012"/>
          <p:cNvSpPr/>
          <p:nvPr/>
        </p:nvSpPr>
        <p:spPr>
          <a:xfrm>
            <a:off x="7633411" y="2947660"/>
            <a:ext cx="204826" cy="1808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013" name="原生平台图标 2013"/>
          <p:cNvSpPr/>
          <p:nvPr/>
        </p:nvSpPr>
        <p:spPr>
          <a:xfrm>
            <a:off x="7889443" y="2947660"/>
            <a:ext cx="204826" cy="1808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014" name="原生平台图标 2014"/>
          <p:cNvSpPr/>
          <p:nvPr/>
        </p:nvSpPr>
        <p:spPr>
          <a:xfrm>
            <a:off x="8145475" y="2947660"/>
            <a:ext cx="204826" cy="1808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400" b="0">
              <a:solidFill>
                <a:schemeClr val="dk2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 2"/>
          <p:cNvSpPr txBox="1"/>
          <p:nvPr/>
        </p:nvSpPr>
        <p:spPr>
          <a:xfrm>
            <a:off x="1097280" y="2468880"/>
            <a:ext cx="9966960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1">
                <a:solidFill>
                  <a:schemeClr val="accent1"/>
                </a:solidFill>
                <a:latin typeface="Arial"/>
                <a:ea typeface="Microsoft YaHei"/>
                <a:cs typeface="Arial"/>
              </a:rPr>
              <a:t>谢谢</a:t>
            </a:r>
          </a:p>
        </p:txBody>
      </p:sp>
      <p:sp>
        <p:nvSpPr>
          <p:cNvPr id="3" name="内容 3"/>
          <p:cNvSpPr txBox="1"/>
          <p:nvPr/>
        </p:nvSpPr>
        <p:spPr>
          <a:xfrm>
            <a:off x="1097280" y="3703320"/>
            <a:ext cx="996696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>
                <a:solidFill>
                  <a:schemeClr val="dk2"/>
                </a:solidFill>
                <a:latin typeface="Arial"/>
                <a:ea typeface="Microsoft YaHei"/>
                <a:cs typeface="Arial"/>
              </a:rPr>
              <a:t>广东移动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EwNTM5NzYwMDRjMzkwZTVkZjY2ODkwMGIxNGU0OTUifQ=="/>
  <p:tag name="RESOURCE_RECORD_KEY" val="{&quot;10&quot;:[50044068,21572629],&quot;65&quot;:[20231087]}"/>
</p:tagLst>
</file>

<file path=ppt/theme/theme1.xml><?xml version="1.0" encoding="utf-8"?>
<a:theme xmlns:a="http://schemas.openxmlformats.org/drawingml/2006/main" name="彩讯科技">
  <a:themeElements>
    <a:clrScheme name="中国移动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184CF"/>
      </a:accent1>
      <a:accent2>
        <a:srgbClr val="9CD2F6"/>
      </a:accent2>
      <a:accent3>
        <a:srgbClr val="D6DCE5"/>
      </a:accent3>
      <a:accent4>
        <a:srgbClr val="8DC222"/>
      </a:accent4>
      <a:accent5>
        <a:srgbClr val="595959"/>
      </a:accent5>
      <a:accent6>
        <a:srgbClr val="595959"/>
      </a:accent6>
      <a:hlink>
        <a:srgbClr val="595959"/>
      </a:hlink>
      <a:folHlink>
        <a:srgbClr val="595959"/>
      </a:folHlink>
    </a:clrScheme>
    <a:fontScheme name="WPS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12700">
          <a:gradFill flip="none" rotWithShape="1">
            <a:gsLst>
              <a:gs pos="0">
                <a:schemeClr val="accent1"/>
              </a:gs>
              <a:gs pos="73000">
                <a:schemeClr val="accent1">
                  <a:alpha val="0"/>
                </a:schemeClr>
              </a:gs>
            </a:gsLst>
            <a:lin ang="0" scaled="1"/>
            <a:tileRect/>
          </a:gradFill>
        </a:ln>
      </a:spPr>
      <a:bodyPr wrap="square" lIns="72000" tIns="72000" rIns="72000" bIns="72000" anchor="ctr">
        <a:noAutofit/>
      </a:bodyPr>
      <a:lstStyle>
        <a:defPPr marL="0" marR="0" indent="0" algn="l" defTabSz="913765" rtl="0" eaLnBrk="1" fontAlgn="auto" latinLnBrk="0" hangingPunct="1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1" i="0" u="none" strike="noStrike" kern="1200" cap="none" spc="0" normalizeH="0" baseline="0" noProof="0" smtClean="0">
            <a:ln>
              <a:noFill/>
            </a:ln>
            <a:solidFill>
              <a:schemeClr val="tx2"/>
            </a:solidFill>
            <a:effectLst/>
            <a:uLnTx/>
            <a:uFillTx/>
            <a:latin typeface="Microsoft YaHei"/>
            <a:ea typeface="Microsoft YaHei"/>
            <a:cs typeface="微软雅黑" panose="020B0503020204020204" charset="-122"/>
            <a:sym typeface="+mn-ea"/>
          </a:defRPr>
        </a:defPPr>
      </a:lstStyle>
    </a:spDef>
    <a:txDef>
      <a:spPr>
        <a:noFill/>
      </a:spPr>
      <a:bodyPr wrap="square" lIns="108000" rtlCol="0">
        <a:spAutoFit/>
      </a:bodyPr>
      <a:lstStyle>
        <a:defPPr algn="l">
          <a:lnSpc>
            <a:spcPct val="120000"/>
          </a:lnSpc>
          <a:defRPr sz="1600" smtClean="0">
            <a:solidFill>
              <a:schemeClr val="tx2"/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基于通用数据大模型（LDM）的行业数据智能赋能方案.pptx" id="{DD3FF0F2-949B-415A-BDD8-7B744D8C58EB}" vid="{ABA021D7-90C9-430F-A162-60542872D83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基于通用数据大模型（LDM）的行业数据智能赋能方案</Template>
  <TotalTime>3287</TotalTime>
  <Words>3239</Words>
  <Application>Microsoft Office PowerPoint</Application>
  <PresentationFormat>宽屏</PresentationFormat>
  <Paragraphs>172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Microsoft YaHei</vt:lpstr>
      <vt:lpstr>Microsoft YaHei</vt:lpstr>
      <vt:lpstr>Arial</vt:lpstr>
      <vt:lpstr>Calibri</vt:lpstr>
      <vt:lpstr>彩讯科技</vt:lpstr>
      <vt:lpstr>PowerPoint 演示文稿</vt:lpstr>
      <vt:lpstr>四、数据分类迁移规划 - 数据来源与迁移去向</vt:lpstr>
      <vt:lpstr>四、数据分类迁移规划 - 专项1（历史聊天迁移与智信适配）</vt:lpstr>
      <vt:lpstr>五、账号关联与用户迁移 - 后台迁移与用户自助迁移</vt:lpstr>
      <vt:lpstr>五、账号关联与用户迁移 - 用户自助迁移流程</vt:lpstr>
      <vt:lpstr>六、分阶段迁移与切换安排</vt:lpstr>
      <vt:lpstr>六、分阶段迁移与切换安排 - 增量、并行、回退及退出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亿光 熊</dc:creator>
  <cp:lastModifiedBy>亿光 熊</cp:lastModifiedBy>
  <cp:revision>139</cp:revision>
  <cp:lastPrinted>2025-08-13T08:08:45Z</cp:lastPrinted>
  <dcterms:created xsi:type="dcterms:W3CDTF">2026-01-07T06:38:52Z</dcterms:created>
  <dcterms:modified xsi:type="dcterms:W3CDTF">2026-10-09T09:02:36Z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BF57028E1B524A348C19E3E7AC496D43_13</vt:lpwstr>
  </property>
</Properties>
</file>